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notesMasterIdLst>
    <p:notesMasterId r:id="rId15"/>
  </p:notesMasterIdLst>
  <p:handoutMasterIdLst>
    <p:handoutMasterId r:id="rId16"/>
  </p:handoutMasterIdLst>
  <p:sldIdLst>
    <p:sldId id="1104" r:id="rId2"/>
    <p:sldId id="2147478407" r:id="rId3"/>
    <p:sldId id="2147478492" r:id="rId4"/>
    <p:sldId id="2147478439" r:id="rId5"/>
    <p:sldId id="2147478396" r:id="rId6"/>
    <p:sldId id="2147478475" r:id="rId7"/>
    <p:sldId id="2147478414" r:id="rId8"/>
    <p:sldId id="2147478438" r:id="rId9"/>
    <p:sldId id="2147478434" r:id="rId10"/>
    <p:sldId id="2147478397" r:id="rId11"/>
    <p:sldId id="2147478412" r:id="rId12"/>
    <p:sldId id="2147478409" r:id="rId13"/>
    <p:sldId id="2147478283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616E7E"/>
          </p15:clr>
        </p15:guide>
        <p15:guide id="3" orient="horz" pos="754" userDrawn="1">
          <p15:clr>
            <a:srgbClr val="616E7E"/>
          </p15:clr>
        </p15:guide>
        <p15:guide id="4" orient="horz" pos="913" userDrawn="1">
          <p15:clr>
            <a:srgbClr val="616E7E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BA9089-F431-1A69-0BEC-E95E01D45C80}" name="Данила Городилов" initials="ДГ" userId="S::DGorodilov@TSinnotech.onmicrosoft.com::a5050e9e-d375-4ec8-96c8-9b75cf96217f" providerId="AD"/>
  <p188:author id="{9F466DFE-070C-16DA-5148-76F86F636D85}" name="Александрова Вероника Андреевна" initials="АВА" userId="S-1-5-21-4282006300-870218872-2599774980-3292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Данила Городилов" initials="ДГ" lastIdx="1" clrIdx="0">
    <p:extLst>
      <p:ext uri="{19B8F6BF-5375-455C-9EA6-DF929625EA0E}">
        <p15:presenceInfo xmlns:p15="http://schemas.microsoft.com/office/powerpoint/2012/main" userId="Данила Городилов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1FF"/>
    <a:srgbClr val="00ADEB"/>
    <a:srgbClr val="ECF2F9"/>
    <a:srgbClr val="00AAE5"/>
    <a:srgbClr val="05AAE5"/>
    <a:srgbClr val="EBF2FA"/>
    <a:srgbClr val="0B8EB7"/>
    <a:srgbClr val="59B3CE"/>
    <a:srgbClr val="7FDEF4"/>
    <a:srgbClr val="A6FB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Средний стиль 3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Светлый стиль 2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54" autoAdjust="0"/>
    <p:restoredTop sz="90877" autoAdjust="0"/>
  </p:normalViewPr>
  <p:slideViewPr>
    <p:cSldViewPr snapToGrid="0" showGuides="1">
      <p:cViewPr varScale="1">
        <p:scale>
          <a:sx n="87" d="100"/>
          <a:sy n="87" d="100"/>
        </p:scale>
        <p:origin x="658" y="67"/>
      </p:cViewPr>
      <p:guideLst>
        <p:guide pos="3840"/>
        <p:guide orient="horz" pos="754"/>
        <p:guide orient="horz" pos="91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15" d="100"/>
          <a:sy n="115" d="100"/>
        </p:scale>
        <p:origin x="3402" y="126"/>
      </p:cViewPr>
      <p:guideLst>
        <p:guide orient="horz" pos="2880"/>
        <p:guide pos="2160"/>
      </p:guideLst>
    </p:cSldViewPr>
  </p:notesViewPr>
  <p:gridSpacing cx="216001" cy="216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D66C1D9F-0F11-4B3B-9B8E-19DE193E3E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10D4612-C293-469C-9062-F9E143A4D0B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833A1-8848-418E-8EE5-D60F2903A1A3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CDF2127-2071-407D-A542-022C9AFCB9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FD139D1-580D-48DA-BB5C-30AAF27AF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E3D81C-561C-441F-8A63-AEC77DFD77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60250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590AE-419C-7848-9550-F62033609B25}" type="datetimeFigureOut">
              <a:rPr lang="ru-RU" smtClean="0"/>
              <a:t>23.06.2026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F69232-B7F1-2A44-AAD4-5E776A4A1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34473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итульный слайд 1">
    <p:bg>
      <p:bgPr>
        <a:solidFill>
          <a:srgbClr val="F1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2D5E41D-142B-4E2E-81F3-B085CE5B2B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4" t="26931" b="21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Текст 3">
            <a:extLst>
              <a:ext uri="{FF2B5EF4-FFF2-40B4-BE49-F238E27FC236}">
                <a16:creationId xmlns:a16="http://schemas.microsoft.com/office/drawing/2014/main" id="{E3EFAC4C-DE97-0AE5-3B7E-3316114BCAC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25143" y="482012"/>
            <a:ext cx="1282403" cy="307777"/>
          </a:xfrm>
          <a:prstGeom prst="rect">
            <a:avLst/>
          </a:prstGeom>
        </p:spPr>
        <p:txBody>
          <a:bodyPr wrap="none" lIns="0" tIns="0" rIns="0" bIns="0" anchor="b">
            <a:spAutoFit/>
          </a:bodyPr>
          <a:lstStyle>
            <a:lvl1pPr marL="0" indent="0" algn="r">
              <a:spcBef>
                <a:spcPts val="0"/>
              </a:spcBef>
              <a:buNone/>
              <a:defRPr lang="ru-RU" sz="2000" dirty="0">
                <a:solidFill>
                  <a:schemeClr val="bg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</a:pPr>
            <a:r>
              <a:rPr lang="en-US" dirty="0"/>
              <a:t>00.00.202</a:t>
            </a:r>
            <a:r>
              <a:rPr lang="ru-RU" dirty="0"/>
              <a:t>5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FC0FEBC-A04D-9F6C-8EE4-E236E6B5EF1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92407" y="2218148"/>
            <a:ext cx="8482112" cy="36933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lang="en-US" sz="2400" kern="12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5E7F5-2BFE-61DF-AF61-1AFD2C368A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2407" y="394505"/>
            <a:ext cx="8469310" cy="1273481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lang="en-US" sz="5400" b="1" kern="1200" spc="-70" baseline="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Длинный заголовок </a:t>
            </a:r>
            <a:br>
              <a:rPr lang="ru-RU" dirty="0"/>
            </a:br>
            <a:r>
              <a:rPr lang="ru-RU" dirty="0"/>
              <a:t>в две строки</a:t>
            </a:r>
            <a:endParaRPr lang="en-US" dirty="0"/>
          </a:p>
        </p:txBody>
      </p:sp>
      <p:pic>
        <p:nvPicPr>
          <p:cNvPr id="7" name="Т1">
            <a:extLst>
              <a:ext uri="{FF2B5EF4-FFF2-40B4-BE49-F238E27FC236}">
                <a16:creationId xmlns:a16="http://schemas.microsoft.com/office/drawing/2014/main" id="{B5CB91FE-1E63-5C2C-FF35-11896AB215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81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4985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3600" b="1" kern="1200" spc="0" baseline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E9BA415-FC08-4E8B-8A7F-B24987665C11}"/>
              </a:ext>
            </a:extLst>
          </p:cNvPr>
          <p:cNvSpPr/>
          <p:nvPr userDrawn="1"/>
        </p:nvSpPr>
        <p:spPr>
          <a:xfrm>
            <a:off x="3933644" y="5457824"/>
            <a:ext cx="6866117" cy="1400175"/>
          </a:xfrm>
          <a:prstGeom prst="rect">
            <a:avLst/>
          </a:prstGeom>
          <a:gradFill>
            <a:gsLst>
              <a:gs pos="0">
                <a:srgbClr val="D0E6F2">
                  <a:alpha val="0"/>
                </a:srgbClr>
              </a:gs>
              <a:gs pos="100000">
                <a:srgbClr val="1EAFF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1C7E181-276E-43A0-B06B-3BFB2500B639}"/>
              </a:ext>
            </a:extLst>
          </p:cNvPr>
          <p:cNvSpPr/>
          <p:nvPr userDrawn="1"/>
        </p:nvSpPr>
        <p:spPr>
          <a:xfrm rot="10800000">
            <a:off x="10799759" y="1820174"/>
            <a:ext cx="1392237" cy="3637648"/>
          </a:xfrm>
          <a:prstGeom prst="rect">
            <a:avLst/>
          </a:prstGeom>
          <a:gradFill>
            <a:gsLst>
              <a:gs pos="90000">
                <a:srgbClr val="F4F4F4">
                  <a:alpha val="0"/>
                </a:srgbClr>
              </a:gs>
              <a:gs pos="0">
                <a:srgbClr val="1EAF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7535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45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72304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45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5061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600" kern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8937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пасибо за внимание">
    <p:bg>
      <p:bgPr>
        <a:solidFill>
          <a:srgbClr val="F1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452C403-8EDB-4F35-8FC7-6FF10D9BE0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34" t="26931" b="21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EABF69-A5D4-7CFF-0A5C-96DEAC997DE6}"/>
              </a:ext>
            </a:extLst>
          </p:cNvPr>
          <p:cNvSpPr txBox="1"/>
          <p:nvPr userDrawn="1"/>
        </p:nvSpPr>
        <p:spPr>
          <a:xfrm>
            <a:off x="387546" y="414000"/>
            <a:ext cx="6133450" cy="1273481"/>
          </a:xfrm>
          <a:prstGeom prst="rect">
            <a:avLst/>
          </a:prstGeom>
        </p:spPr>
        <p:txBody>
          <a:bodyPr wrap="square" lIns="0" tIns="72000" rIns="0" bIns="0" anchor="t" anchorCtr="0">
            <a:spAutoFit/>
          </a:bodyPr>
          <a:lstStyle>
            <a:lvl1pPr>
              <a:lnSpc>
                <a:spcPct val="70000"/>
              </a:lnSpc>
              <a:spcBef>
                <a:spcPct val="0"/>
              </a:spcBef>
              <a:buNone/>
              <a:defRPr sz="6600" spc="-70" baseline="0">
                <a:solidFill>
                  <a:schemeClr val="bg1"/>
                </a:solidFill>
                <a:latin typeface="ALS Hauss Medium" panose="00000600000000000000" pitchFamily="50" charset="0"/>
                <a:ea typeface="+mj-ea"/>
                <a:cs typeface="+mj-cs"/>
              </a:defRPr>
            </a:lvl1pPr>
          </a:lstStyle>
          <a:p>
            <a:pPr lvl="0"/>
            <a:r>
              <a:rPr lang="ru-RU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Спасибо </a:t>
            </a:r>
            <a:br>
              <a:rPr lang="ru-RU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54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за внимание</a:t>
            </a:r>
          </a:p>
        </p:txBody>
      </p:sp>
      <p:pic>
        <p:nvPicPr>
          <p:cNvPr id="5" name="Т1">
            <a:extLst>
              <a:ext uri="{FF2B5EF4-FFF2-40B4-BE49-F238E27FC236}">
                <a16:creationId xmlns:a16="http://schemas.microsoft.com/office/drawing/2014/main" id="{E10652EA-C7D2-A5BF-C8AC-6BA408361A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251" b="2251"/>
          <a:stretch/>
        </p:blipFill>
        <p:spPr>
          <a:xfrm>
            <a:off x="384367" y="5938771"/>
            <a:ext cx="1446895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509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Содержание">
    <p:bg>
      <p:bgPr>
        <a:solidFill>
          <a:srgbClr val="17B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1E6FEA-55A1-FDCA-E85E-196DB5BBCF3F}"/>
              </a:ext>
            </a:extLst>
          </p:cNvPr>
          <p:cNvSpPr txBox="1"/>
          <p:nvPr/>
        </p:nvSpPr>
        <p:spPr>
          <a:xfrm>
            <a:off x="431800" y="375858"/>
            <a:ext cx="8950682" cy="6647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ru-RU" sz="4800" b="1" kern="1200" spc="0" baseline="0" dirty="0">
                <a:solidFill>
                  <a:schemeClr val="bg1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Содержание</a:t>
            </a:r>
          </a:p>
        </p:txBody>
      </p:sp>
      <p:sp>
        <p:nvSpPr>
          <p:cNvPr id="7" name="Текст 2">
            <a:extLst>
              <a:ext uri="{FF2B5EF4-FFF2-40B4-BE49-F238E27FC236}">
                <a16:creationId xmlns:a16="http://schemas.microsoft.com/office/drawing/2014/main" id="{1C9C9AA4-C952-6470-6C12-FE661562D9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2913" y="1384989"/>
            <a:ext cx="565308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Пункты</a:t>
            </a:r>
          </a:p>
        </p:txBody>
      </p:sp>
      <p:sp>
        <p:nvSpPr>
          <p:cNvPr id="10" name="Полилиния: фигура 3">
            <a:extLst>
              <a:ext uri="{FF2B5EF4-FFF2-40B4-BE49-F238E27FC236}">
                <a16:creationId xmlns:a16="http://schemas.microsoft.com/office/drawing/2014/main" id="{BDA0C0D8-666B-401F-8A1D-20E3F94296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753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45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лилиния: фигура 3">
            <a:extLst>
              <a:ext uri="{FF2B5EF4-FFF2-40B4-BE49-F238E27FC236}">
                <a16:creationId xmlns:a16="http://schemas.microsoft.com/office/drawing/2014/main" id="{D151D3DC-722B-4FBC-A5B5-516AF0B10A8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675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нтент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CF34B08F-006B-41C1-86DE-CC7D9DD5768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2619" y="1011238"/>
            <a:ext cx="961625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0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ru-RU" dirty="0"/>
              <a:t>Подзаголовок слайда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E00EF4DE-B783-4553-8F88-845E34CF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45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1DBB2A0-4480-4CD6-824E-3049E69020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1458390"/>
            <a:ext cx="9617075" cy="197061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16000" indent="-216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LS Hauss" panose="00000500000000000000" pitchFamily="50" charset="0"/>
              <a:buChar char="+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504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―"/>
              <a:defRPr lang="ru-RU" sz="1800" kern="1200" dirty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252000" indent="-2520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+mj-lt"/>
              <a:buAutoNum type="arabicPeriod"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marL="432000" lvl="2" indent="-18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</a:pPr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Полилиния: фигура 3">
            <a:extLst>
              <a:ext uri="{FF2B5EF4-FFF2-40B4-BE49-F238E27FC236}">
                <a16:creationId xmlns:a16="http://schemas.microsoft.com/office/drawing/2014/main" id="{04901109-7CB0-46E2-9953-05024CF8B497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04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нтент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8B37D52-36D9-4E44-80B3-5A8CD72A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4542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ct val="80000"/>
              </a:lnSpc>
              <a:defRPr sz="36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0683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Содержание">
    <p:bg>
      <p:bgPr>
        <a:solidFill>
          <a:srgbClr val="17B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олилиния: фигура 3">
            <a:extLst>
              <a:ext uri="{FF2B5EF4-FFF2-40B4-BE49-F238E27FC236}">
                <a16:creationId xmlns:a16="http://schemas.microsoft.com/office/drawing/2014/main" id="{BDA0C0D8-666B-401F-8A1D-20E3F9429698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1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8FCEE29-1D96-40CA-9AAF-CF4DDC54D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21" b="21259"/>
          <a:stretch>
            <a:fillRect/>
          </a:stretch>
        </p:blipFill>
        <p:spPr>
          <a:xfrm>
            <a:off x="7700370" y="3443827"/>
            <a:ext cx="4491630" cy="3414173"/>
          </a:xfrm>
          <a:custGeom>
            <a:avLst/>
            <a:gdLst>
              <a:gd name="connsiteX0" fmla="*/ 0 w 3455988"/>
              <a:gd name="connsiteY0" fmla="*/ 0 h 2626962"/>
              <a:gd name="connsiteX1" fmla="*/ 3455988 w 3455988"/>
              <a:gd name="connsiteY1" fmla="*/ 0 h 2626962"/>
              <a:gd name="connsiteX2" fmla="*/ 3455988 w 3455988"/>
              <a:gd name="connsiteY2" fmla="*/ 2542478 h 2626962"/>
              <a:gd name="connsiteX3" fmla="*/ 3371504 w 3455988"/>
              <a:gd name="connsiteY3" fmla="*/ 2626962 h 2626962"/>
              <a:gd name="connsiteX4" fmla="*/ 0 w 3455988"/>
              <a:gd name="connsiteY4" fmla="*/ 2626962 h 2626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5988" h="2626962">
                <a:moveTo>
                  <a:pt x="0" y="0"/>
                </a:moveTo>
                <a:lnTo>
                  <a:pt x="3455988" y="0"/>
                </a:lnTo>
                <a:lnTo>
                  <a:pt x="3455988" y="2542478"/>
                </a:lnTo>
                <a:cubicBezTo>
                  <a:pt x="3455988" y="2589137"/>
                  <a:pt x="3418163" y="2626962"/>
                  <a:pt x="3371504" y="2626962"/>
                </a:cubicBezTo>
                <a:lnTo>
                  <a:pt x="0" y="2626962"/>
                </a:lnTo>
                <a:close/>
              </a:path>
            </a:pathLst>
          </a:cu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D10500F-F1FE-4E00-9783-F3EF25FED8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043" y="2584214"/>
            <a:ext cx="9415914" cy="55521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ctr">
              <a:lnSpc>
                <a:spcPct val="80000"/>
              </a:lnSpc>
              <a:defRPr sz="44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36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азделитель паттерн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2B8846-9ACD-49CB-BA30-6B0773C46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619" y="442994"/>
            <a:ext cx="9415914" cy="5933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lnSpc>
                <a:spcPct val="80000"/>
              </a:lnSpc>
              <a:defRPr sz="48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Обложка раздела</a:t>
            </a:r>
            <a:endParaRPr lang="en-US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63E473A9-D8F3-4E0E-B91B-3B189D614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2619" y="1434456"/>
            <a:ext cx="9415914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lang="ru-RU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</a:pPr>
            <a:r>
              <a:rPr lang="ru-RU" dirty="0"/>
              <a:t>Подзаголовок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7AB9BA1-A721-4FAA-A2A0-4282EC694221}"/>
              </a:ext>
            </a:extLst>
          </p:cNvPr>
          <p:cNvSpPr/>
          <p:nvPr userDrawn="1"/>
        </p:nvSpPr>
        <p:spPr>
          <a:xfrm>
            <a:off x="1353374" y="4697999"/>
            <a:ext cx="8688038" cy="759825"/>
          </a:xfrm>
          <a:prstGeom prst="rect">
            <a:avLst/>
          </a:prstGeom>
          <a:gradFill>
            <a:gsLst>
              <a:gs pos="0">
                <a:srgbClr val="F4F4F4">
                  <a:alpha val="0"/>
                </a:srgbClr>
              </a:gs>
              <a:gs pos="100000">
                <a:srgbClr val="1EAFF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FE34C4F-0EAE-4C38-A658-1983D44B791F}"/>
              </a:ext>
            </a:extLst>
          </p:cNvPr>
          <p:cNvSpPr>
            <a:spLocks/>
          </p:cNvSpPr>
          <p:nvPr userDrawn="1"/>
        </p:nvSpPr>
        <p:spPr>
          <a:xfrm>
            <a:off x="4158114" y="3938287"/>
            <a:ext cx="6641646" cy="759825"/>
          </a:xfrm>
          <a:prstGeom prst="rect">
            <a:avLst/>
          </a:prstGeom>
          <a:gradFill>
            <a:gsLst>
              <a:gs pos="0">
                <a:srgbClr val="F4F4F4">
                  <a:alpha val="0"/>
                </a:srgbClr>
              </a:gs>
              <a:gs pos="100000">
                <a:srgbClr val="1EAFF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390F509-C5C1-4624-ADFA-5DC582465790}"/>
              </a:ext>
            </a:extLst>
          </p:cNvPr>
          <p:cNvSpPr/>
          <p:nvPr userDrawn="1"/>
        </p:nvSpPr>
        <p:spPr>
          <a:xfrm>
            <a:off x="3933644" y="5457824"/>
            <a:ext cx="6866117" cy="1400175"/>
          </a:xfrm>
          <a:prstGeom prst="rect">
            <a:avLst/>
          </a:prstGeom>
          <a:gradFill>
            <a:gsLst>
              <a:gs pos="0">
                <a:srgbClr val="D0E6F2">
                  <a:alpha val="0"/>
                </a:srgbClr>
              </a:gs>
              <a:gs pos="100000">
                <a:srgbClr val="1EAFF7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481ECBD-522D-475B-8FC6-864F4E8BFCE1}"/>
              </a:ext>
            </a:extLst>
          </p:cNvPr>
          <p:cNvSpPr/>
          <p:nvPr userDrawn="1"/>
        </p:nvSpPr>
        <p:spPr>
          <a:xfrm rot="10800000">
            <a:off x="10799759" y="1820174"/>
            <a:ext cx="1392237" cy="3637648"/>
          </a:xfrm>
          <a:prstGeom prst="rect">
            <a:avLst/>
          </a:prstGeom>
          <a:gradFill>
            <a:gsLst>
              <a:gs pos="90000">
                <a:srgbClr val="F4F4F4">
                  <a:alpha val="0"/>
                </a:srgbClr>
              </a:gs>
              <a:gs pos="0">
                <a:srgbClr val="1EAFF7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695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ижний колонтитул 1">
            <a:extLst>
              <a:ext uri="{FF2B5EF4-FFF2-40B4-BE49-F238E27FC236}">
                <a16:creationId xmlns:a16="http://schemas.microsoft.com/office/drawing/2014/main" id="{CA63CDCD-30A2-4DA6-B570-31B3BF14C402}"/>
              </a:ext>
            </a:extLst>
          </p:cNvPr>
          <p:cNvSpPr txBox="1">
            <a:spLocks/>
          </p:cNvSpPr>
          <p:nvPr userDrawn="1"/>
        </p:nvSpPr>
        <p:spPr>
          <a:xfrm>
            <a:off x="432619" y="5806118"/>
            <a:ext cx="9266646" cy="123111"/>
          </a:xfrm>
          <a:prstGeom prst="rect">
            <a:avLst/>
          </a:prstGeom>
        </p:spPr>
        <p:txBody>
          <a:bodyPr vert="horz" lIns="0" tIns="0" rIns="0" bIns="0" rtlCol="0" anchor="b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800" kern="120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D0594BD2-AC30-4D23-AF81-DDFAF8AA7973}"/>
              </a:ext>
            </a:extLst>
          </p:cNvPr>
          <p:cNvSpPr/>
          <p:nvPr userDrawn="1"/>
        </p:nvSpPr>
        <p:spPr>
          <a:xfrm>
            <a:off x="11196443" y="443503"/>
            <a:ext cx="562938" cy="401047"/>
          </a:xfrm>
          <a:custGeom>
            <a:avLst/>
            <a:gdLst>
              <a:gd name="connsiteX0" fmla="*/ 241705 w 564708"/>
              <a:gd name="connsiteY0" fmla="*/ 160605 h 402308"/>
              <a:gd name="connsiteX1" fmla="*/ 401911 w 564708"/>
              <a:gd name="connsiteY1" fmla="*/ 160605 h 402308"/>
              <a:gd name="connsiteX2" fmla="*/ 401911 w 564708"/>
              <a:gd name="connsiteY2" fmla="*/ 242103 h 402308"/>
              <a:gd name="connsiteX3" fmla="*/ 241705 w 564708"/>
              <a:gd name="connsiteY3" fmla="*/ 242103 h 402308"/>
              <a:gd name="connsiteX4" fmla="*/ 241705 w 564708"/>
              <a:gd name="connsiteY4" fmla="*/ 402309 h 402308"/>
              <a:gd name="connsiteX5" fmla="*/ 160207 w 564708"/>
              <a:gd name="connsiteY5" fmla="*/ 402309 h 402308"/>
              <a:gd name="connsiteX6" fmla="*/ 160207 w 564708"/>
              <a:gd name="connsiteY6" fmla="*/ 242103 h 402308"/>
              <a:gd name="connsiteX7" fmla="*/ 0 w 564708"/>
              <a:gd name="connsiteY7" fmla="*/ 242103 h 402308"/>
              <a:gd name="connsiteX8" fmla="*/ 0 w 564708"/>
              <a:gd name="connsiteY8" fmla="*/ 160605 h 402308"/>
              <a:gd name="connsiteX9" fmla="*/ 160207 w 564708"/>
              <a:gd name="connsiteY9" fmla="*/ 160605 h 402308"/>
              <a:gd name="connsiteX10" fmla="*/ 160207 w 564708"/>
              <a:gd name="connsiteY10" fmla="*/ 399 h 402308"/>
              <a:gd name="connsiteX11" fmla="*/ 241705 w 564708"/>
              <a:gd name="connsiteY11" fmla="*/ 399 h 402308"/>
              <a:gd name="connsiteX12" fmla="*/ 241705 w 564708"/>
              <a:gd name="connsiteY12" fmla="*/ 160605 h 402308"/>
              <a:gd name="connsiteX13" fmla="*/ 241705 w 564708"/>
              <a:gd name="connsiteY13" fmla="*/ 160605 h 402308"/>
              <a:gd name="connsiteX14" fmla="*/ 483210 w 564708"/>
              <a:gd name="connsiteY14" fmla="*/ 0 h 402308"/>
              <a:gd name="connsiteX15" fmla="*/ 483210 w 564708"/>
              <a:gd name="connsiteY15" fmla="*/ 402309 h 402308"/>
              <a:gd name="connsiteX16" fmla="*/ 564709 w 564708"/>
              <a:gd name="connsiteY16" fmla="*/ 402309 h 402308"/>
              <a:gd name="connsiteX17" fmla="*/ 564709 w 564708"/>
              <a:gd name="connsiteY17" fmla="*/ 0 h 402308"/>
              <a:gd name="connsiteX18" fmla="*/ 483210 w 564708"/>
              <a:gd name="connsiteY18" fmla="*/ 0 h 40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4708" h="402308">
                <a:moveTo>
                  <a:pt x="241705" y="160605"/>
                </a:moveTo>
                <a:lnTo>
                  <a:pt x="401911" y="160605"/>
                </a:lnTo>
                <a:lnTo>
                  <a:pt x="401911" y="242103"/>
                </a:lnTo>
                <a:lnTo>
                  <a:pt x="241705" y="242103"/>
                </a:lnTo>
                <a:lnTo>
                  <a:pt x="241705" y="402309"/>
                </a:lnTo>
                <a:lnTo>
                  <a:pt x="160207" y="402309"/>
                </a:lnTo>
                <a:lnTo>
                  <a:pt x="160207" y="242103"/>
                </a:lnTo>
                <a:lnTo>
                  <a:pt x="0" y="242103"/>
                </a:lnTo>
                <a:lnTo>
                  <a:pt x="0" y="160605"/>
                </a:lnTo>
                <a:lnTo>
                  <a:pt x="160207" y="160605"/>
                </a:lnTo>
                <a:lnTo>
                  <a:pt x="160207" y="399"/>
                </a:lnTo>
                <a:lnTo>
                  <a:pt x="241705" y="399"/>
                </a:lnTo>
                <a:lnTo>
                  <a:pt x="241705" y="160605"/>
                </a:lnTo>
                <a:lnTo>
                  <a:pt x="241705" y="160605"/>
                </a:lnTo>
                <a:close/>
                <a:moveTo>
                  <a:pt x="483210" y="0"/>
                </a:moveTo>
                <a:lnTo>
                  <a:pt x="483210" y="402309"/>
                </a:lnTo>
                <a:lnTo>
                  <a:pt x="564709" y="402309"/>
                </a:lnTo>
                <a:lnTo>
                  <a:pt x="564709" y="0"/>
                </a:lnTo>
                <a:lnTo>
                  <a:pt x="483210" y="0"/>
                </a:lnTo>
                <a:close/>
              </a:path>
            </a:pathLst>
          </a:custGeom>
          <a:solidFill>
            <a:schemeClr val="bg2"/>
          </a:solidFill>
          <a:ln w="1986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475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6" r:id="rId3"/>
    <p:sldLayoutId id="2147483857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72">
          <p15:clr>
            <a:srgbClr val="A4A3A4"/>
          </p15:clr>
        </p15:guide>
        <p15:guide id="4" pos="393">
          <p15:clr>
            <a:srgbClr val="AFE0FF"/>
          </p15:clr>
        </p15:guide>
        <p15:guide id="5" pos="514">
          <p15:clr>
            <a:srgbClr val="AFE0FF"/>
          </p15:clr>
        </p15:guide>
        <p15:guide id="6" pos="634">
          <p15:clr>
            <a:srgbClr val="AFE0FF"/>
          </p15:clr>
        </p15:guide>
        <p15:guide id="7" pos="755">
          <p15:clr>
            <a:srgbClr val="AFE0FF"/>
          </p15:clr>
        </p15:guide>
        <p15:guide id="8" pos="876">
          <p15:clr>
            <a:srgbClr val="AFE0FF"/>
          </p15:clr>
        </p15:guide>
        <p15:guide id="9" pos="997">
          <p15:clr>
            <a:srgbClr val="AFE0FF"/>
          </p15:clr>
        </p15:guide>
        <p15:guide id="10" pos="1118">
          <p15:clr>
            <a:srgbClr val="AFE0FF"/>
          </p15:clr>
        </p15:guide>
        <p15:guide id="11" pos="1239">
          <p15:clr>
            <a:srgbClr val="AFE0FF"/>
          </p15:clr>
        </p15:guide>
        <p15:guide id="12" pos="1360">
          <p15:clr>
            <a:srgbClr val="AFE0FF"/>
          </p15:clr>
        </p15:guide>
        <p15:guide id="13" pos="1481">
          <p15:clr>
            <a:srgbClr val="AFE0FF"/>
          </p15:clr>
        </p15:guide>
        <p15:guide id="14" pos="1602">
          <p15:clr>
            <a:srgbClr val="AFE0FF"/>
          </p15:clr>
        </p15:guide>
        <p15:guide id="15" pos="1723">
          <p15:clr>
            <a:srgbClr val="AFE0FF"/>
          </p15:clr>
        </p15:guide>
        <p15:guide id="16" pos="1844">
          <p15:clr>
            <a:srgbClr val="AFE0FF"/>
          </p15:clr>
        </p15:guide>
        <p15:guide id="17" pos="1958">
          <p15:clr>
            <a:srgbClr val="A4A3A4"/>
          </p15:clr>
        </p15:guide>
        <p15:guide id="18" pos="2094">
          <p15:clr>
            <a:srgbClr val="A4A3A4"/>
          </p15:clr>
        </p15:guide>
        <p15:guide id="19" pos="2207">
          <p15:clr>
            <a:srgbClr val="AFE0FF"/>
          </p15:clr>
        </p15:guide>
        <p15:guide id="20" pos="2328">
          <p15:clr>
            <a:srgbClr val="AFE0FF"/>
          </p15:clr>
        </p15:guide>
        <p15:guide id="21" pos="2449">
          <p15:clr>
            <a:srgbClr val="AFE0FF"/>
          </p15:clr>
        </p15:guide>
        <p15:guide id="22" pos="2570">
          <p15:clr>
            <a:srgbClr val="A4A3A4"/>
          </p15:clr>
        </p15:guide>
        <p15:guide id="23" pos="2691">
          <p15:clr>
            <a:srgbClr val="A4A3A4"/>
          </p15:clr>
        </p15:guide>
        <p15:guide id="24" pos="2811">
          <p15:clr>
            <a:srgbClr val="AFE0FF"/>
          </p15:clr>
        </p15:guide>
        <p15:guide id="25" pos="2932">
          <p15:clr>
            <a:srgbClr val="AFE0FF"/>
          </p15:clr>
        </p15:guide>
        <p15:guide id="26" pos="3053">
          <p15:clr>
            <a:srgbClr val="AFE0FF"/>
          </p15:clr>
        </p15:guide>
        <p15:guide id="27" pos="3174">
          <p15:clr>
            <a:srgbClr val="AFE0FF"/>
          </p15:clr>
        </p15:guide>
        <p15:guide id="28" pos="3295">
          <p15:clr>
            <a:srgbClr val="AFE0FF"/>
          </p15:clr>
        </p15:guide>
        <p15:guide id="29" pos="3416">
          <p15:clr>
            <a:srgbClr val="AFE0FF"/>
          </p15:clr>
        </p15:guide>
        <p15:guide id="30" pos="3537">
          <p15:clr>
            <a:srgbClr val="AFE0FF"/>
          </p15:clr>
        </p15:guide>
        <p15:guide id="31" pos="3658">
          <p15:clr>
            <a:srgbClr val="AFE0FF"/>
          </p15:clr>
        </p15:guide>
        <p15:guide id="32" pos="3779">
          <p15:clr>
            <a:srgbClr val="A4A3A4"/>
          </p15:clr>
        </p15:guide>
        <p15:guide id="33" pos="3900">
          <p15:clr>
            <a:srgbClr val="A4A3A4"/>
          </p15:clr>
        </p15:guide>
        <p15:guide id="34" pos="4021">
          <p15:clr>
            <a:srgbClr val="AFE0FF"/>
          </p15:clr>
        </p15:guide>
        <p15:guide id="35" pos="4142">
          <p15:clr>
            <a:srgbClr val="AFE0FF"/>
          </p15:clr>
        </p15:guide>
        <p15:guide id="36" pos="4263">
          <p15:clr>
            <a:srgbClr val="AFE0FF"/>
          </p15:clr>
        </p15:guide>
        <p15:guide id="37" pos="4384">
          <p15:clr>
            <a:srgbClr val="AFE0FF"/>
          </p15:clr>
        </p15:guide>
        <p15:guide id="38" pos="4505">
          <p15:clr>
            <a:srgbClr val="AFE0FF"/>
          </p15:clr>
        </p15:guide>
        <p15:guide id="39" pos="4626">
          <p15:clr>
            <a:srgbClr val="AFE0FF"/>
          </p15:clr>
        </p15:guide>
        <p15:guide id="40" pos="4747">
          <p15:clr>
            <a:srgbClr val="AFE0FF"/>
          </p15:clr>
        </p15:guide>
        <p15:guide id="41" pos="4868">
          <p15:clr>
            <a:srgbClr val="AFE0FF"/>
          </p15:clr>
        </p15:guide>
        <p15:guide id="42" pos="4988">
          <p15:clr>
            <a:srgbClr val="A4A3A4"/>
          </p15:clr>
        </p15:guide>
        <p15:guide id="43" pos="5109">
          <p15:clr>
            <a:srgbClr val="A4A3A4"/>
          </p15:clr>
        </p15:guide>
        <p15:guide id="44" pos="5230">
          <p15:clr>
            <a:srgbClr val="AFE0FF"/>
          </p15:clr>
        </p15:guide>
        <p15:guide id="45" pos="5351">
          <p15:clr>
            <a:srgbClr val="AFE0FF"/>
          </p15:clr>
        </p15:guide>
        <p15:guide id="46" pos="5472">
          <p15:clr>
            <a:srgbClr val="AFE0FF"/>
          </p15:clr>
        </p15:guide>
        <p15:guide id="47" pos="5593">
          <p15:clr>
            <a:srgbClr val="A4A3A4"/>
          </p15:clr>
        </p15:guide>
        <p15:guide id="48" pos="5714">
          <p15:clr>
            <a:srgbClr val="A4A3A4"/>
          </p15:clr>
        </p15:guide>
        <p15:guide id="49" pos="5835">
          <p15:clr>
            <a:srgbClr val="AFE0FF"/>
          </p15:clr>
        </p15:guide>
        <p15:guide id="50" pos="5956">
          <p15:clr>
            <a:srgbClr val="AFE0FF"/>
          </p15:clr>
        </p15:guide>
        <p15:guide id="51" pos="6077">
          <p15:clr>
            <a:srgbClr val="AFE0FF"/>
          </p15:clr>
        </p15:guide>
        <p15:guide id="52" pos="6198">
          <p15:clr>
            <a:srgbClr val="AFE0FF"/>
          </p15:clr>
        </p15:guide>
        <p15:guide id="53" pos="6335">
          <p15:clr>
            <a:srgbClr val="AFE0FF"/>
          </p15:clr>
        </p15:guide>
        <p15:guide id="54" pos="6440">
          <p15:clr>
            <a:srgbClr val="AFE0FF"/>
          </p15:clr>
        </p15:guide>
        <p15:guide id="55" pos="6561">
          <p15:clr>
            <a:srgbClr val="AFE0FF"/>
          </p15:clr>
        </p15:guide>
        <p15:guide id="56" pos="6682">
          <p15:clr>
            <a:srgbClr val="AFE0FF"/>
          </p15:clr>
        </p15:guide>
        <p15:guide id="57" pos="6803">
          <p15:clr>
            <a:srgbClr val="AFE0FF"/>
          </p15:clr>
        </p15:guide>
        <p15:guide id="58" pos="6924">
          <p15:clr>
            <a:srgbClr val="AFE0FF"/>
          </p15:clr>
        </p15:guide>
        <p15:guide id="59" pos="7045">
          <p15:clr>
            <a:srgbClr val="AFE0FF"/>
          </p15:clr>
        </p15:guide>
        <p15:guide id="60" pos="7165">
          <p15:clr>
            <a:srgbClr val="AFE0FF"/>
          </p15:clr>
        </p15:guide>
        <p15:guide id="61" pos="7286">
          <p15:clr>
            <a:srgbClr val="AFE0FF"/>
          </p15:clr>
        </p15:guide>
        <p15:guide id="62" pos="7407">
          <p15:clr>
            <a:srgbClr val="A4A3A4"/>
          </p15:clr>
        </p15:guide>
        <p15:guide id="65" orient="horz" pos="272">
          <p15:clr>
            <a:srgbClr val="A4A3A4"/>
          </p15:clr>
        </p15:guide>
        <p15:guide id="66" orient="horz" pos="393">
          <p15:clr>
            <a:srgbClr val="AFE0FF"/>
          </p15:clr>
        </p15:guide>
        <p15:guide id="67" orient="horz" pos="504">
          <p15:clr>
            <a:srgbClr val="AFE0FF"/>
          </p15:clr>
        </p15:guide>
        <p15:guide id="68" orient="horz" pos="637">
          <p15:clr>
            <a:srgbClr val="AFE0FF"/>
          </p15:clr>
        </p15:guide>
        <p15:guide id="69" orient="horz" pos="754">
          <p15:clr>
            <a:srgbClr val="AFE0FF"/>
          </p15:clr>
        </p15:guide>
        <p15:guide id="70" orient="horz" pos="867">
          <p15:clr>
            <a:srgbClr val="AFE0FF"/>
          </p15:clr>
        </p15:guide>
        <p15:guide id="71" orient="horz" pos="1002">
          <p15:clr>
            <a:srgbClr val="AFE0FF"/>
          </p15:clr>
        </p15:guide>
        <p15:guide id="72" orient="horz" pos="1124">
          <p15:clr>
            <a:srgbClr val="AFE0FF"/>
          </p15:clr>
        </p15:guide>
        <p15:guide id="73" orient="horz" pos="1246">
          <p15:clr>
            <a:srgbClr val="AFE0FF"/>
          </p15:clr>
        </p15:guide>
        <p15:guide id="74" orient="horz" pos="1368">
          <p15:clr>
            <a:srgbClr val="AFE0FF"/>
          </p15:clr>
        </p15:guide>
        <p15:guide id="75" orient="horz" pos="1490">
          <p15:clr>
            <a:srgbClr val="AFE0FF"/>
          </p15:clr>
        </p15:guide>
        <p15:guide id="76" orient="horz" pos="1611">
          <p15:clr>
            <a:srgbClr val="AFE0FF"/>
          </p15:clr>
        </p15:guide>
        <p15:guide id="77" orient="horz" pos="1733">
          <p15:clr>
            <a:srgbClr val="AFE0FF"/>
          </p15:clr>
        </p15:guide>
        <p15:guide id="78" orient="horz" pos="1855">
          <p15:clr>
            <a:srgbClr val="AFE0FF"/>
          </p15:clr>
        </p15:guide>
        <p15:guide id="79" orient="horz" pos="1977">
          <p15:clr>
            <a:srgbClr val="AFE0FF"/>
          </p15:clr>
        </p15:guide>
        <p15:guide id="80" orient="horz" pos="2099">
          <p15:clr>
            <a:srgbClr val="AFE0FF"/>
          </p15:clr>
        </p15:guide>
        <p15:guide id="81" orient="horz" pos="2228">
          <p15:clr>
            <a:srgbClr val="AFE0FF"/>
          </p15:clr>
        </p15:guide>
        <p15:guide id="82" orient="horz" pos="2342">
          <p15:clr>
            <a:srgbClr val="AFE0FF"/>
          </p15:clr>
        </p15:guide>
        <p15:guide id="83" orient="horz" pos="2464">
          <p15:clr>
            <a:srgbClr val="AFE0FF"/>
          </p15:clr>
        </p15:guide>
        <p15:guide id="84" orient="horz" pos="2586">
          <p15:clr>
            <a:srgbClr val="AFE0FF"/>
          </p15:clr>
        </p15:guide>
        <p15:guide id="85" orient="horz" pos="2708">
          <p15:clr>
            <a:srgbClr val="AFE0FF"/>
          </p15:clr>
        </p15:guide>
        <p15:guide id="86" orient="horz" pos="2829">
          <p15:clr>
            <a:srgbClr val="AFE0FF"/>
          </p15:clr>
        </p15:guide>
        <p15:guide id="87" orient="horz" pos="2951">
          <p15:clr>
            <a:srgbClr val="AFE0FF"/>
          </p15:clr>
        </p15:guide>
        <p15:guide id="88" orient="horz" pos="3067">
          <p15:clr>
            <a:srgbClr val="AFE0FF"/>
          </p15:clr>
        </p15:guide>
        <p15:guide id="89" orient="horz" pos="3195">
          <p15:clr>
            <a:srgbClr val="AFE0FF"/>
          </p15:clr>
        </p15:guide>
        <p15:guide id="90" orient="horz" pos="3317">
          <p15:clr>
            <a:srgbClr val="AFE0FF"/>
          </p15:clr>
        </p15:guide>
        <p15:guide id="91" orient="horz" pos="3438">
          <p15:clr>
            <a:srgbClr val="AFE0FF"/>
          </p15:clr>
        </p15:guide>
        <p15:guide id="92" orient="horz" pos="3560">
          <p15:clr>
            <a:srgbClr val="AFE0FF"/>
          </p15:clr>
        </p15:guide>
        <p15:guide id="93" orient="horz" pos="3682">
          <p15:clr>
            <a:srgbClr val="AFE0FF"/>
          </p15:clr>
        </p15:guide>
        <p15:guide id="94" orient="horz" pos="3804">
          <p15:clr>
            <a:srgbClr val="AFE0FF"/>
          </p15:clr>
        </p15:guide>
        <p15:guide id="95" orient="horz" pos="3926">
          <p15:clr>
            <a:srgbClr val="AFE0FF"/>
          </p15:clr>
        </p15:guide>
        <p15:guide id="96" pos="3719">
          <p15:clr>
            <a:srgbClr val="AFE0FF"/>
          </p15:clr>
        </p15:guide>
        <p15:guide id="97" pos="3962">
          <p15:clr>
            <a:srgbClr val="AFE0FF"/>
          </p15:clr>
        </p15:guide>
        <p15:guide id="98" orient="horz" pos="404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080A1E03-9573-464F-9133-6EA09197C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2026</a:t>
            </a:r>
            <a:endParaRPr lang="ru-RU" dirty="0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4C16700B-D0CF-45A1-92D8-6134224F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06" y="394505"/>
            <a:ext cx="10879331" cy="1855179"/>
          </a:xfrm>
        </p:spPr>
        <p:txBody>
          <a:bodyPr/>
          <a:lstStyle/>
          <a:p>
            <a:r>
              <a:rPr lang="ru-RU" dirty="0"/>
              <a:t>Система быстрой аналитики </a:t>
            </a:r>
            <a:br>
              <a:rPr lang="ru-RU" dirty="0"/>
            </a:br>
            <a:r>
              <a:rPr lang="ru-RU" dirty="0"/>
              <a:t>для компании </a:t>
            </a:r>
            <a:r>
              <a:rPr lang="ru-RU" dirty="0" err="1"/>
              <a:t>Сервионика</a:t>
            </a:r>
            <a:r>
              <a:rPr lang="ru-RU" dirty="0"/>
              <a:t> </a:t>
            </a:r>
            <a:br>
              <a:rPr lang="en-US" dirty="0"/>
            </a:br>
            <a:r>
              <a:rPr lang="ru-RU" dirty="0"/>
              <a:t>(</a:t>
            </a:r>
            <a:r>
              <a:rPr lang="en-US" dirty="0"/>
              <a:t>MVP - Text2BI</a:t>
            </a:r>
            <a:r>
              <a:rPr lang="ru-RU" dirty="0"/>
              <a:t>)</a:t>
            </a:r>
            <a:r>
              <a:rPr lang="en-US" dirty="0"/>
              <a:t> 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533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8A876A7-663D-0B47-4C75-9CB41AA9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Цели, задачи проекта, сценарии применения</a:t>
            </a:r>
          </a:p>
        </p:txBody>
      </p:sp>
      <p:sp>
        <p:nvSpPr>
          <p:cNvPr id="7" name="Прямоугольник: скругленные углы 10">
            <a:extLst>
              <a:ext uri="{FF2B5EF4-FFF2-40B4-BE49-F238E27FC236}">
                <a16:creationId xmlns:a16="http://schemas.microsoft.com/office/drawing/2014/main" id="{F0A85FE7-BCEC-548C-7F16-1525B50875C1}"/>
              </a:ext>
            </a:extLst>
          </p:cNvPr>
          <p:cNvSpPr/>
          <p:nvPr/>
        </p:nvSpPr>
        <p:spPr>
          <a:xfrm>
            <a:off x="537818" y="1608992"/>
            <a:ext cx="4755152" cy="2446948"/>
          </a:xfrm>
          <a:prstGeom prst="roundRect">
            <a:avLst>
              <a:gd name="adj" fmla="val 7956"/>
            </a:avLst>
          </a:prstGeom>
          <a:solidFill>
            <a:srgbClr val="ECF2F9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lIns="144000" tIns="144000" rIns="216000" bIns="216000">
            <a:noAutofit/>
          </a:bodyPr>
          <a:lstStyle/>
          <a:p>
            <a:pPr>
              <a:spcAft>
                <a:spcPts val="600"/>
              </a:spcAft>
              <a:buClr>
                <a:srgbClr val="0066E6"/>
              </a:buClr>
              <a:buSzPct val="100000"/>
              <a:defRPr/>
            </a:pPr>
            <a:r>
              <a:rPr lang="ru-RU" sz="1400" b="1" kern="0" dirty="0">
                <a:latin typeface="Calibri" panose="020F0502020204030204" pitchFamily="34" charset="0"/>
                <a:cs typeface="Calibri" panose="020F0502020204030204" pitchFamily="34" charset="0"/>
              </a:rPr>
              <a:t>Цель проекта</a:t>
            </a:r>
          </a:p>
          <a:p>
            <a:pPr marL="179388" indent="-169863">
              <a:spcAft>
                <a:spcPts val="300"/>
              </a:spcAft>
              <a:buClr>
                <a:schemeClr val="bg2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Повышение эффективности работы руководителей за счет генерации выборок аналитически выборок из базы данных и генерации отчетов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и аналитических документов с помощью текстов на русском языке и интерактивного чата с 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LLM-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моделью</a:t>
            </a:r>
          </a:p>
          <a:p>
            <a:pPr marL="179388" indent="-169863">
              <a:spcAft>
                <a:spcPts val="300"/>
              </a:spcAft>
              <a:buClr>
                <a:schemeClr val="bg2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Повышение продуктивности работы аналитиков в изучении </a:t>
            </a:r>
            <a:r>
              <a:rPr lang="ru-RU" sz="1400" kern="0" dirty="0" err="1">
                <a:latin typeface="Calibri" panose="020F0502020204030204" pitchFamily="34" charset="0"/>
                <a:cs typeface="Calibri" panose="020F0502020204030204" pitchFamily="34" charset="0"/>
              </a:rPr>
              <a:t>даныых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 и быстром построении отчетов</a:t>
            </a:r>
          </a:p>
        </p:txBody>
      </p:sp>
      <p:sp>
        <p:nvSpPr>
          <p:cNvPr id="8" name="Прямоугольник: скругленные углы 10">
            <a:extLst>
              <a:ext uri="{FF2B5EF4-FFF2-40B4-BE49-F238E27FC236}">
                <a16:creationId xmlns:a16="http://schemas.microsoft.com/office/drawing/2014/main" id="{019C7065-5AC9-FD0B-EC7F-E95EDC122332}"/>
              </a:ext>
            </a:extLst>
          </p:cNvPr>
          <p:cNvSpPr/>
          <p:nvPr/>
        </p:nvSpPr>
        <p:spPr>
          <a:xfrm>
            <a:off x="5407269" y="1608992"/>
            <a:ext cx="5817322" cy="2446948"/>
          </a:xfrm>
          <a:prstGeom prst="roundRect">
            <a:avLst>
              <a:gd name="adj" fmla="val 7227"/>
            </a:avLst>
          </a:prstGeom>
          <a:solidFill>
            <a:srgbClr val="00AAE5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lIns="144000" tIns="144000" rIns="216000" bIns="216000">
            <a:no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66E6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b="1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Проблематика</a:t>
            </a:r>
          </a:p>
          <a:p>
            <a:pPr marL="179388" marR="0" lvl="0" indent="-169863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 компании </a:t>
            </a:r>
            <a:r>
              <a:rPr lang="ru-RU" sz="1400" kern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Сервионика</a:t>
            </a: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постоянно генерируется большое количество </a:t>
            </a:r>
            <a:r>
              <a:rPr lang="ru-RU" sz="1400" kern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разнообразныхз</a:t>
            </a: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отчетов для нужд руководства, и создание каждого отчета требует времени и </a:t>
            </a:r>
            <a:r>
              <a:rPr lang="ru-RU" sz="1400" kern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ресурсо</a:t>
            </a: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аналитиков</a:t>
            </a:r>
          </a:p>
          <a:p>
            <a:pPr marL="179388" marR="0" lvl="0" indent="-169863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Есть потребность получать </a:t>
            </a:r>
            <a:r>
              <a:rPr lang="ru-RU" sz="1400" kern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онужные</a:t>
            </a: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отчеты максимально быстро, лучше интерактивно, чтобы </a:t>
            </a:r>
            <a:r>
              <a:rPr lang="ru-RU" sz="1400" kern="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бытьв</a:t>
            </a: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курсе текущих процессов в компании</a:t>
            </a:r>
          </a:p>
          <a:p>
            <a:pPr marL="179388" marR="0" lvl="0" indent="-169863" fontAlgn="auto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Есть потребность аналитиков изучения и работы с базой данных с привлечением ИИ внутри корпоративной среды</a:t>
            </a:r>
          </a:p>
        </p:txBody>
      </p:sp>
      <p:sp>
        <p:nvSpPr>
          <p:cNvPr id="10" name="Прямоугольник: скругленные углы 10">
            <a:extLst>
              <a:ext uri="{FF2B5EF4-FFF2-40B4-BE49-F238E27FC236}">
                <a16:creationId xmlns:a16="http://schemas.microsoft.com/office/drawing/2014/main" id="{181FF79C-F09C-CD27-6C55-67A7054ACA4C}"/>
              </a:ext>
            </a:extLst>
          </p:cNvPr>
          <p:cNvSpPr/>
          <p:nvPr/>
        </p:nvSpPr>
        <p:spPr>
          <a:xfrm>
            <a:off x="537818" y="4180294"/>
            <a:ext cx="4755152" cy="2378768"/>
          </a:xfrm>
          <a:prstGeom prst="roundRect">
            <a:avLst>
              <a:gd name="adj" fmla="val 5654"/>
            </a:avLst>
          </a:prstGeom>
          <a:solidFill>
            <a:srgbClr val="0059AA"/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lIns="144000" tIns="144000" rIns="216000" bIns="216000">
            <a:noAutofit/>
          </a:bodyPr>
          <a:lstStyle/>
          <a:p>
            <a:pPr>
              <a:spcAft>
                <a:spcPts val="600"/>
              </a:spcAft>
              <a:buClr>
                <a:srgbClr val="0066E6"/>
              </a:buClr>
              <a:buSzPct val="100000"/>
              <a:defRPr/>
            </a:pPr>
            <a:r>
              <a:rPr lang="ru-RU" sz="1400" b="1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Задачи проекта</a:t>
            </a:r>
          </a:p>
          <a:p>
            <a:pPr marL="179388" indent="-169863">
              <a:spcAft>
                <a:spcPts val="300"/>
              </a:spcAft>
              <a:buClr>
                <a:schemeClr val="bg1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ИИ-помощника для интерактивной работы с базой данных на русском языке</a:t>
            </a:r>
          </a:p>
          <a:p>
            <a:pPr marL="179388" indent="-169863">
              <a:spcAft>
                <a:spcPts val="300"/>
              </a:spcAft>
              <a:buClr>
                <a:schemeClr val="bg1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ИИ-помощника построения графиков и отчетов с возможностью экспорта в различные формат</a:t>
            </a:r>
          </a:p>
          <a:p>
            <a:pPr marL="179388" indent="-169863">
              <a:spcAft>
                <a:spcPts val="300"/>
              </a:spcAft>
              <a:buClr>
                <a:schemeClr val="bg1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Внедрение ИИ-помощника генерации отчетов по выборкам из базы данных (с возможностью настройки под различные бизнес-кейсы)</a:t>
            </a:r>
            <a:endParaRPr lang="en-US" sz="1400" kern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88680F-763B-417B-B1DC-D8D8FE32BD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1800" y="882071"/>
            <a:ext cx="10937240" cy="307777"/>
          </a:xfrm>
        </p:spPr>
        <p:txBody>
          <a:bodyPr/>
          <a:lstStyle/>
          <a:p>
            <a:r>
              <a:rPr lang="en-US" dirty="0"/>
              <a:t>MVP </a:t>
            </a:r>
            <a:r>
              <a:rPr lang="ru-RU" dirty="0"/>
              <a:t>для системы быстрой аналитики</a:t>
            </a:r>
          </a:p>
        </p:txBody>
      </p:sp>
      <p:sp>
        <p:nvSpPr>
          <p:cNvPr id="9" name="Прямоугольник: скругленные углы 10">
            <a:extLst>
              <a:ext uri="{FF2B5EF4-FFF2-40B4-BE49-F238E27FC236}">
                <a16:creationId xmlns:a16="http://schemas.microsoft.com/office/drawing/2014/main" id="{167EAB69-73DD-4957-A9E5-F5F00C0AF71A}"/>
              </a:ext>
            </a:extLst>
          </p:cNvPr>
          <p:cNvSpPr/>
          <p:nvPr/>
        </p:nvSpPr>
        <p:spPr>
          <a:xfrm>
            <a:off x="5407269" y="4180294"/>
            <a:ext cx="5770939" cy="2378768"/>
          </a:xfrm>
          <a:prstGeom prst="roundRect">
            <a:avLst>
              <a:gd name="adj" fmla="val 7956"/>
            </a:avLst>
          </a:prstGeom>
          <a:solidFill>
            <a:schemeClr val="bg1">
              <a:lumMod val="95000"/>
              <a:alpha val="34000"/>
            </a:schemeClr>
          </a:solidFill>
          <a:ln w="19050">
            <a:solidFill>
              <a:schemeClr val="bg1">
                <a:lumMod val="75000"/>
              </a:schemeClr>
            </a:solidFill>
          </a:ln>
        </p:spPr>
        <p:txBody>
          <a:bodyPr wrap="square" lIns="144000" tIns="144000" rIns="216000" bIns="216000">
            <a:noAutofit/>
          </a:bodyPr>
          <a:lstStyle/>
          <a:p>
            <a:pPr>
              <a:spcAft>
                <a:spcPts val="600"/>
              </a:spcAft>
              <a:buClr>
                <a:srgbClr val="0066E6"/>
              </a:buClr>
              <a:buSzPct val="100000"/>
              <a:defRPr/>
            </a:pPr>
            <a:r>
              <a:rPr lang="ru-RU" sz="1400" b="1" kern="0" dirty="0">
                <a:latin typeface="Calibri" panose="020F0502020204030204" pitchFamily="34" charset="0"/>
                <a:cs typeface="Calibri" panose="020F0502020204030204" pitchFamily="34" charset="0"/>
              </a:rPr>
              <a:t>Ключевые сценарии применения</a:t>
            </a:r>
          </a:p>
          <a:p>
            <a:pPr marL="179388" indent="-169863">
              <a:spcAft>
                <a:spcPts val="300"/>
              </a:spcAft>
              <a:buClr>
                <a:schemeClr val="bg2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Работа руководителей с 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web-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интерфейсом в режиме чата для получение 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SQL-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скриптов из русского текста, выборок аналитических данных и построения аналитических отчетов</a:t>
            </a:r>
          </a:p>
          <a:p>
            <a:pPr marL="179388" indent="-169863">
              <a:spcAft>
                <a:spcPts val="300"/>
              </a:spcAft>
              <a:buClr>
                <a:schemeClr val="bg2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Работа руководителей с 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web-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интерфейсом в режиме чата для генерирования аналитических документов (в формате 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word)</a:t>
            </a:r>
            <a:endParaRPr lang="ru-RU" sz="1400" kern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9388" indent="-169863">
              <a:spcAft>
                <a:spcPts val="300"/>
              </a:spcAft>
              <a:buClr>
                <a:schemeClr val="bg2"/>
              </a:buClr>
              <a:buSzPct val="100000"/>
              <a:buFont typeface="Системный шрифт, обычный"/>
              <a:buChar char="+"/>
              <a:defRPr/>
            </a:pP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Работа аналитиков с 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web-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интерфейсом в режиме чата для изучения базы данных, построение и модификация </a:t>
            </a:r>
            <a:r>
              <a:rPr lang="en-US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SQL-</a:t>
            </a:r>
            <a:r>
              <a:rPr lang="ru-RU" sz="1400" kern="0" dirty="0">
                <a:latin typeface="Calibri" panose="020F0502020204030204" pitchFamily="34" charset="0"/>
                <a:cs typeface="Calibri" panose="020F0502020204030204" pitchFamily="34" charset="0"/>
              </a:rPr>
              <a:t>запросов из русского текста и построения требуемых отчетов </a:t>
            </a:r>
          </a:p>
        </p:txBody>
      </p:sp>
    </p:spTree>
    <p:extLst>
      <p:ext uri="{BB962C8B-B14F-4D97-AF65-F5344CB8AC3E}">
        <p14:creationId xmlns:p14="http://schemas.microsoft.com/office/powerpoint/2010/main" val="1147284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8A876A7-663D-0B47-4C75-9CB41AA9C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Исследование потребности</a:t>
            </a: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61FCF4B8-E415-4597-8C34-BB6A2940A9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220002"/>
              </p:ext>
            </p:extLst>
          </p:nvPr>
        </p:nvGraphicFramePr>
        <p:xfrm>
          <a:off x="744040" y="1722913"/>
          <a:ext cx="10703920" cy="3642360"/>
        </p:xfrm>
        <a:graphic>
          <a:graphicData uri="http://schemas.openxmlformats.org/drawingml/2006/table">
            <a:tbl>
              <a:tblPr/>
              <a:tblGrid>
                <a:gridCol w="301334">
                  <a:extLst>
                    <a:ext uri="{9D8B030D-6E8A-4147-A177-3AD203B41FA5}">
                      <a16:colId xmlns:a16="http://schemas.microsoft.com/office/drawing/2014/main" val="2530605024"/>
                    </a:ext>
                  </a:extLst>
                </a:gridCol>
                <a:gridCol w="1166033">
                  <a:extLst>
                    <a:ext uri="{9D8B030D-6E8A-4147-A177-3AD203B41FA5}">
                      <a16:colId xmlns:a16="http://schemas.microsoft.com/office/drawing/2014/main" val="425459145"/>
                    </a:ext>
                  </a:extLst>
                </a:gridCol>
                <a:gridCol w="2974039">
                  <a:extLst>
                    <a:ext uri="{9D8B030D-6E8A-4147-A177-3AD203B41FA5}">
                      <a16:colId xmlns:a16="http://schemas.microsoft.com/office/drawing/2014/main" val="2090574915"/>
                    </a:ext>
                  </a:extLst>
                </a:gridCol>
                <a:gridCol w="1959394">
                  <a:extLst>
                    <a:ext uri="{9D8B030D-6E8A-4147-A177-3AD203B41FA5}">
                      <a16:colId xmlns:a16="http://schemas.microsoft.com/office/drawing/2014/main" val="493059751"/>
                    </a:ext>
                  </a:extLst>
                </a:gridCol>
                <a:gridCol w="2429606">
                  <a:extLst>
                    <a:ext uri="{9D8B030D-6E8A-4147-A177-3AD203B41FA5}">
                      <a16:colId xmlns:a16="http://schemas.microsoft.com/office/drawing/2014/main" val="105340057"/>
                    </a:ext>
                  </a:extLst>
                </a:gridCol>
                <a:gridCol w="1873514">
                  <a:extLst>
                    <a:ext uri="{9D8B030D-6E8A-4147-A177-3AD203B41FA5}">
                      <a16:colId xmlns:a16="http://schemas.microsoft.com/office/drawing/2014/main" val="747455334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№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0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Целевая аудитория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Ситуация / проблема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AS IS: действия без ИИ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Ожидания от ИИ / действие агента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Критичность / эффект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802211"/>
                  </a:ext>
                </a:extLst>
              </a:tr>
              <a:tr h="267462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 algn="l" rtl="0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Руководители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 algn="just" rtl="0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Руководству периодически требуется строить самые различные разрезы аналитики и, старым методом (через запросы к БД), это занимает достаточно много времени и ресурсов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 algn="l" rtl="0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Руководители дают задания аналитикам на построение новых отчетов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2603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ИИ помогает преобразовать запрос на русском языке в бизнес-терминах в язык SQL для извлечения данных из базы.</a:t>
                      </a:r>
                    </a:p>
                    <a:p>
                      <a:pPr marL="2603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ИИ помогает сразу ("на лету") строить отчеты и графики.</a:t>
                      </a:r>
                    </a:p>
                    <a:p>
                      <a:pPr marL="2603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ИИ помогает описывать извлеченные данные ми генерировать отчеты в формате </a:t>
                      </a:r>
                      <a:r>
                        <a:rPr lang="ru-RU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Word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с включением аналитики, графиков и данных.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0" algn="l" rtl="0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Высокая. Снижение трудозатрат и ускорение работы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30421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indent="0" algn="l" rtl="0" fontAlgn="ctr"/>
                      <a:r>
                        <a:rPr lang="ru-RU" sz="1200" b="0" i="0" u="none" strike="noStrike" dirty="0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Аналитики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indent="0" algn="just" rtl="0" fontAlgn="ctr"/>
                      <a:r>
                        <a:rPr lang="ru-RU" sz="1200" b="0" i="0" u="none" strike="noStrike" dirty="0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Аналитикам приходится тратить много времени на построение отчетов и </a:t>
                      </a:r>
                      <a:r>
                        <a:rPr lang="ru-RU" sz="1200" b="0" i="0" u="none" strike="noStrike" dirty="0" err="1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дашбордов</a:t>
                      </a:r>
                      <a:r>
                        <a:rPr lang="ru-RU" sz="1200" b="0" i="0" u="none" strike="noStrike" dirty="0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 для руководства.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indent="0" algn="l" rtl="0" fontAlgn="ctr"/>
                      <a:r>
                        <a:rPr lang="ru-RU" sz="1200" b="0" i="0" u="none" strike="noStrike" dirty="0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Продавцы вручную заполняют поля по сделкам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indent="0" algn="l" rtl="0" fontAlgn="ctr"/>
                      <a:r>
                        <a:rPr lang="ru-RU" sz="1200" b="0" i="0" u="none" strike="noStrike" dirty="0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ИИ помогает заполнить поля в CRM и контролирует правильность заполнения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0" indent="0" algn="l" rtl="0" fontAlgn="ctr"/>
                      <a:r>
                        <a:rPr lang="ru-RU" sz="1200" b="0" i="0" u="none" strike="noStrike" dirty="0">
                          <a:solidFill>
                            <a:srgbClr val="03182B"/>
                          </a:solidFill>
                          <a:effectLst/>
                          <a:latin typeface="Arial" panose="020B0604020202020204" pitchFamily="34" charset="0"/>
                        </a:rPr>
                        <a:t>Высокая. Снижение трудозатрат и ускорение работы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38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073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6AFAE8A-6D97-964D-C38E-268E7FD11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16256" cy="370807"/>
          </a:xfrm>
        </p:spPr>
        <p:txBody>
          <a:bodyPr/>
          <a:lstStyle/>
          <a:p>
            <a:r>
              <a:rPr lang="ru-RU" dirty="0"/>
              <a:t>Концептуальная архитектура ИС</a:t>
            </a:r>
          </a:p>
        </p:txBody>
      </p:sp>
      <p:sp>
        <p:nvSpPr>
          <p:cNvPr id="91" name="Прямоугольник: скругленные углы 10">
            <a:extLst>
              <a:ext uri="{FF2B5EF4-FFF2-40B4-BE49-F238E27FC236}">
                <a16:creationId xmlns:a16="http://schemas.microsoft.com/office/drawing/2014/main" id="{3582521C-3C99-2FEB-8BCD-3C67A5164300}"/>
              </a:ext>
            </a:extLst>
          </p:cNvPr>
          <p:cNvSpPr/>
          <p:nvPr/>
        </p:nvSpPr>
        <p:spPr>
          <a:xfrm>
            <a:off x="2531494" y="6292130"/>
            <a:ext cx="6911975" cy="377824"/>
          </a:xfrm>
          <a:prstGeom prst="roundRect">
            <a:avLst>
              <a:gd name="adj" fmla="val 2008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r>
              <a:rPr lang="ru-RU" sz="1100" b="1" dirty="0">
                <a:ln/>
                <a:solidFill>
                  <a:srgbClr val="FFFFFF"/>
                </a:solidFill>
                <a:latin typeface="Arial" panose="020B0604020202020204" pitchFamily="34" charset="0"/>
                <a:rtl val="0"/>
              </a:rPr>
              <a:t>Инфраструктура </a:t>
            </a:r>
            <a:r>
              <a:rPr lang="en-US" sz="1100" b="1" dirty="0">
                <a:ln/>
                <a:solidFill>
                  <a:srgbClr val="FFFFFF"/>
                </a:solidFill>
                <a:latin typeface="Arial" panose="020B0604020202020204" pitchFamily="34" charset="0"/>
                <a:rtl val="0"/>
              </a:rPr>
              <a:t>T1 Cloud</a:t>
            </a:r>
            <a:r>
              <a:rPr lang="ru-RU" sz="1100" b="1" dirty="0">
                <a:ln/>
                <a:solidFill>
                  <a:srgbClr val="FFFFFF"/>
                </a:solidFill>
                <a:latin typeface="Arial" panose="020B0604020202020204" pitchFamily="34" charset="0"/>
                <a:rtl val="0"/>
              </a:rPr>
              <a:t>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FBF4CD-7AD3-48EC-BA54-7FB5BB76E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044" y="1082003"/>
            <a:ext cx="9757681" cy="506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783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B1B139F-57A7-4778-ABF8-DEE21CF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42994"/>
            <a:ext cx="9415914" cy="344710"/>
          </a:xfrm>
        </p:spPr>
        <p:txBody>
          <a:bodyPr/>
          <a:lstStyle/>
          <a:p>
            <a:r>
              <a:rPr lang="ru-RU" sz="2800" dirty="0">
                <a:latin typeface="+mn-lt"/>
              </a:rPr>
              <a:t>Краткое описание концепции решения</a:t>
            </a:r>
            <a:endParaRPr lang="ru-RU" dirty="0">
              <a:latin typeface="+mn-lt"/>
            </a:endParaRP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55E9101-B0DD-86B2-6C7E-5E42E4CF3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8579596"/>
              </p:ext>
            </p:extLst>
          </p:nvPr>
        </p:nvGraphicFramePr>
        <p:xfrm>
          <a:off x="432618" y="1365178"/>
          <a:ext cx="9175406" cy="4375688"/>
        </p:xfrm>
        <a:graphic>
          <a:graphicData uri="http://schemas.openxmlformats.org/drawingml/2006/table">
            <a:tbl>
              <a:tblPr/>
              <a:tblGrid>
                <a:gridCol w="4587703">
                  <a:extLst>
                    <a:ext uri="{9D8B030D-6E8A-4147-A177-3AD203B41FA5}">
                      <a16:colId xmlns:a16="http://schemas.microsoft.com/office/drawing/2014/main" val="1073603081"/>
                    </a:ext>
                  </a:extLst>
                </a:gridCol>
                <a:gridCol w="4587703">
                  <a:extLst>
                    <a:ext uri="{9D8B030D-6E8A-4147-A177-3AD203B41FA5}">
                      <a16:colId xmlns:a16="http://schemas.microsoft.com/office/drawing/2014/main" val="2705689487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Блок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Описание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19602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Платформа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Единая платформа ИИ / T1GPT предоставляет контур запуска агента, LLM-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</a:rPr>
                        <a:t>инференс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, работу с базой данных, мониторинг, аудит и управление доступом.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181104"/>
                  </a:ext>
                </a:extLst>
              </a:tr>
              <a:tr h="953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Агент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ИИ-Агент обеспечивают взаимодействие с пользователями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через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web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-доступ, интерактивное взаимодействие с большими языковыми моделями по переводу текста на русском языке в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SQL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, получению информации из базы данных, построению графиков.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739218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Данные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ИИ-Агент используют внутреннюю базу данных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PostgreSQL 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для хранения необходимой конфигурационной информации, запрашивает базу данных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</a:rPr>
                        <a:t>Сервионики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Simple One)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545173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Интеграции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Взаимодействие с репликой базы данных </a:t>
                      </a:r>
                      <a:r>
                        <a:rPr lang="ru-RU" sz="1200" dirty="0" err="1">
                          <a:solidFill>
                            <a:schemeClr val="tx1"/>
                          </a:solidFill>
                        </a:rPr>
                        <a:t>Сервионики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 осуществляется агентов напрямую.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533893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>
                          <a:solidFill>
                            <a:schemeClr val="tx1"/>
                          </a:solidFill>
                        </a:rPr>
                        <a:t>Контроль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Ведется аудит работы всех агентов и сервисов для анализа.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121709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Целевой результат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</a:rPr>
                        <a:t>Руководители и аналитики используют работу с агентов, чтобы интерактивно строить графики и отчеты.</a:t>
                      </a:r>
                    </a:p>
                  </a:txBody>
                  <a:tcPr marL="59607" marR="59607" marT="29804" marB="298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41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0085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4E717-6E1F-44B7-AC11-5B91FB2D5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2"/>
            <a:ext cx="9606530" cy="454292"/>
          </a:xfrm>
        </p:spPr>
        <p:txBody>
          <a:bodyPr/>
          <a:lstStyle/>
          <a:p>
            <a:r>
              <a:rPr lang="ru-RU"/>
              <a:t>Описание функционала </a:t>
            </a:r>
            <a:r>
              <a:rPr lang="en-US" dirty="0"/>
              <a:t>MVP</a:t>
            </a:r>
            <a:endParaRPr lang="ru-RU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B75E0681-C6FF-46C6-A696-C18CFECFE4C4}"/>
              </a:ext>
            </a:extLst>
          </p:cNvPr>
          <p:cNvSpPr/>
          <p:nvPr/>
        </p:nvSpPr>
        <p:spPr>
          <a:xfrm>
            <a:off x="1025386" y="984287"/>
            <a:ext cx="10141228" cy="5644056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/>
          <a:lstStyle/>
          <a:p>
            <a:pPr marL="216000" lvl="1" indent="-21600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Arial" panose="020B0604020202020204" pitchFamily="34" charset="0"/>
              <a:buChar char="+"/>
            </a:pPr>
            <a:r>
              <a:rPr lang="ru-RU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Для запроса к </a:t>
            </a:r>
            <a:r>
              <a:rPr lang="en-US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lang="ru-RU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используется: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Структура базы данных (с помощью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information schema)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Бизнес-описание базы (сгенерированное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по структуре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DDL)</a:t>
            </a:r>
            <a:endParaRPr lang="ru-RU" sz="1400" kern="0" spc="-3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Примеры вопросов и ответов (запрос на русском –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SQL-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запрос)</a:t>
            </a:r>
          </a:p>
          <a:p>
            <a:pPr marL="216000" lvl="1" indent="-21600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Arial" panose="020B0604020202020204" pitchFamily="34" charset="0"/>
              <a:buChar char="+"/>
            </a:pPr>
            <a:r>
              <a:rPr lang="ru-RU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В качестве </a:t>
            </a:r>
            <a:r>
              <a:rPr lang="en-US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lang="ru-RU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используется: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en-US" sz="1400" kern="0" spc="-31" dirty="0" err="1">
                <a:ea typeface="Calibri" panose="020F0502020204030204" pitchFamily="34" charset="0"/>
                <a:cs typeface="Calibri" panose="020F0502020204030204" pitchFamily="34" charset="0"/>
              </a:rPr>
              <a:t>OpenAI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API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интерфейс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Модель можно менять (от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Qwen3-32b 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и более мощные, доступные к корпоративной сети)</a:t>
            </a:r>
          </a:p>
          <a:p>
            <a:pPr marL="216000" lvl="1" indent="-21600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Arial" panose="020B0604020202020204" pitchFamily="34" charset="0"/>
              <a:buChar char="+"/>
            </a:pPr>
            <a:r>
              <a:rPr lang="ru-RU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Проверки сгенерированного </a:t>
            </a:r>
            <a:r>
              <a:rPr lang="en-US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SQL: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На токсичность (должны начитаться с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SELECT 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или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, и быть без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DROP,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DELETE,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UPDATE,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INSERT,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ALTER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Ограничение на количество запрашиваемых строк (чтобы не нагружать базу очень тяжелыми запросами)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Дополнительные проверки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SQL-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кода на корректность структуре базы</a:t>
            </a:r>
          </a:p>
          <a:p>
            <a:pPr marL="216000" lvl="1" indent="-21600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Arial" panose="020B0604020202020204" pitchFamily="34" charset="0"/>
              <a:buChar char="+"/>
            </a:pPr>
            <a:r>
              <a:rPr lang="ru-RU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Использование: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Docker-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архитектура,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Flask, Python, Pandas, </a:t>
            </a:r>
            <a:r>
              <a:rPr lang="en-US" sz="1400" kern="0" spc="-31" dirty="0" err="1">
                <a:ea typeface="Calibri" panose="020F0502020204030204" pitchFamily="34" charset="0"/>
                <a:cs typeface="Calibri" panose="020F0502020204030204" pitchFamily="34" charset="0"/>
              </a:rPr>
              <a:t>Plotly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и другие библиотеки</a:t>
            </a:r>
            <a:endParaRPr lang="en-US" sz="1400" kern="0" spc="-3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16000" lvl="1" indent="-21600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Arial" panose="020B0604020202020204" pitchFamily="34" charset="0"/>
              <a:buChar char="+"/>
            </a:pPr>
            <a:r>
              <a:rPr lang="ru-RU" sz="1400" b="1" kern="0" spc="-31" dirty="0">
                <a:ea typeface="Calibri" panose="020F0502020204030204" pitchFamily="34" charset="0"/>
                <a:cs typeface="Calibri" panose="020F0502020204030204" pitchFamily="34" charset="0"/>
              </a:rPr>
              <a:t>Функционал: 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Построение графиков</a:t>
            </a:r>
            <a:endParaRPr lang="en-US" sz="1400" kern="0" spc="-3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Экспорт графиков, таблиц и ответов модели (форматы HTML, JPG,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Excel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Word, Text)</a:t>
            </a:r>
            <a:endParaRPr lang="ru-RU" sz="1400" kern="0" spc="-3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Чат с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LLM 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по </a:t>
            </a:r>
            <a:r>
              <a:rPr lang="en-US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 и базе данных</a:t>
            </a:r>
          </a:p>
          <a:p>
            <a:pPr marL="742950" lvl="2" indent="-285750">
              <a:lnSpc>
                <a:spcPts val="1800"/>
              </a:lnSpc>
              <a:spcAft>
                <a:spcPts val="600"/>
              </a:spcAft>
              <a:buClr>
                <a:srgbClr val="02C2FD"/>
              </a:buClr>
              <a:buSzPct val="100000"/>
              <a:buFont typeface="Courier New" panose="02070309020205020404" pitchFamily="49" charset="0"/>
              <a:buChar char="o"/>
            </a:pPr>
            <a:r>
              <a:rPr lang="ru-RU" sz="1400" kern="0" spc="-31" dirty="0">
                <a:ea typeface="Calibri" panose="020F0502020204030204" pitchFamily="34" charset="0"/>
                <a:cs typeface="Calibri" panose="020F0502020204030204" pitchFamily="34" charset="0"/>
              </a:rPr>
              <a:t>Построение отчетов</a:t>
            </a:r>
          </a:p>
        </p:txBody>
      </p:sp>
    </p:spTree>
    <p:extLst>
      <p:ext uri="{BB962C8B-B14F-4D97-AF65-F5344CB8AC3E}">
        <p14:creationId xmlns:p14="http://schemas.microsoft.com/office/powerpoint/2010/main" val="257240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76B2F-BEB6-1674-25F7-B627B0C8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решения и подхода к реализации</a:t>
            </a:r>
          </a:p>
        </p:txBody>
      </p:sp>
      <p:sp>
        <p:nvSpPr>
          <p:cNvPr id="3" name="Прямоугольник: скругленные углы 47">
            <a:extLst>
              <a:ext uri="{FF2B5EF4-FFF2-40B4-BE49-F238E27FC236}">
                <a16:creationId xmlns:a16="http://schemas.microsoft.com/office/drawing/2014/main" id="{B989ED0C-BA39-BC6B-6730-8D10FBB0A0CB}"/>
              </a:ext>
            </a:extLst>
          </p:cNvPr>
          <p:cNvSpPr/>
          <p:nvPr/>
        </p:nvSpPr>
        <p:spPr>
          <a:xfrm>
            <a:off x="597770" y="1757363"/>
            <a:ext cx="3625451" cy="2341562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1400" b="1" dirty="0">
                <a:solidFill>
                  <a:schemeClr val="bg2"/>
                </a:solidFill>
                <a:latin typeface="Arial" panose="020B0604020202020204" pitchFamily="34" charset="0"/>
              </a:rPr>
              <a:t>Использование </a:t>
            </a:r>
            <a:r>
              <a:rPr lang="en-US" sz="1400" b="1" dirty="0">
                <a:solidFill>
                  <a:schemeClr val="bg2"/>
                </a:solidFill>
                <a:latin typeface="Arial" panose="020B0604020202020204" pitchFamily="34" charset="0"/>
              </a:rPr>
              <a:t>AI-</a:t>
            </a:r>
            <a:r>
              <a:rPr lang="ru-RU" sz="1400" b="1" dirty="0">
                <a:solidFill>
                  <a:schemeClr val="bg2"/>
                </a:solidFill>
                <a:latin typeface="Arial" panose="020B0604020202020204" pitchFamily="34" charset="0"/>
              </a:rPr>
              <a:t>подхода с современной открытой LLM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Решение строится на базе открытых современных технологиях: LLM, </a:t>
            </a:r>
            <a:r>
              <a:rPr lang="en-US" sz="1200" dirty="0">
                <a:solidFill>
                  <a:srgbClr val="353535"/>
                </a:solidFill>
                <a:latin typeface="Arial" panose="020B0604020202020204" pitchFamily="34" charset="0"/>
              </a:rPr>
              <a:t>PostgreSQL.</a:t>
            </a:r>
            <a:endParaRPr lang="ru-RU" sz="1200" dirty="0">
              <a:solidFill>
                <a:srgbClr val="353535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Это позволяет: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быстро адаптировать систему под новые сценарии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обеспечить естественный интерфейс взаимодействия</a:t>
            </a:r>
          </a:p>
        </p:txBody>
      </p:sp>
      <p:sp>
        <p:nvSpPr>
          <p:cNvPr id="7" name="Прямоугольник: скругленные углы 47">
            <a:extLst>
              <a:ext uri="{FF2B5EF4-FFF2-40B4-BE49-F238E27FC236}">
                <a16:creationId xmlns:a16="http://schemas.microsoft.com/office/drawing/2014/main" id="{9C7FB7D8-391E-716F-CC1A-B8AFBFB5E24D}"/>
              </a:ext>
            </a:extLst>
          </p:cNvPr>
          <p:cNvSpPr/>
          <p:nvPr/>
        </p:nvSpPr>
        <p:spPr>
          <a:xfrm>
            <a:off x="4413622" y="1757363"/>
            <a:ext cx="3663994" cy="2341562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1400" b="1" dirty="0">
                <a:solidFill>
                  <a:schemeClr val="bg2"/>
                </a:solidFill>
                <a:latin typeface="Arial" panose="020B0604020202020204" pitchFamily="34" charset="0"/>
              </a:rPr>
              <a:t>Интеграция с существующим ИТ-ландшафтом и сервисов Единой платформы ИИ-агентов</a:t>
            </a:r>
          </a:p>
          <a:p>
            <a:pPr>
              <a:spcAft>
                <a:spcPts val="600"/>
              </a:spcAft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Преимущества: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Надежность архитектуры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Минимальные изменения текущих процессов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Быстрое принятие пользователями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Отсутствие необходимости замены существующих систем</a:t>
            </a:r>
          </a:p>
        </p:txBody>
      </p:sp>
      <p:sp>
        <p:nvSpPr>
          <p:cNvPr id="4" name="Прямоугольник: скругленные углы 47">
            <a:extLst>
              <a:ext uri="{FF2B5EF4-FFF2-40B4-BE49-F238E27FC236}">
                <a16:creationId xmlns:a16="http://schemas.microsoft.com/office/drawing/2014/main" id="{7B38635F-FEEC-CFF7-7799-BE86968A8F06}"/>
              </a:ext>
            </a:extLst>
          </p:cNvPr>
          <p:cNvSpPr/>
          <p:nvPr/>
        </p:nvSpPr>
        <p:spPr>
          <a:xfrm>
            <a:off x="8237494" y="1757363"/>
            <a:ext cx="3249656" cy="2341562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>
              <a:spcAft>
                <a:spcPts val="600"/>
              </a:spcAft>
              <a:defRPr/>
            </a:pPr>
            <a:r>
              <a:rPr lang="ru-RU" sz="1400" b="1" dirty="0">
                <a:solidFill>
                  <a:schemeClr val="bg2"/>
                </a:solidFill>
                <a:latin typeface="Arial" panose="020B0604020202020204" pitchFamily="34" charset="0"/>
              </a:rPr>
              <a:t>Безопасность работы в корпоративном контуре</a:t>
            </a:r>
          </a:p>
          <a:p>
            <a:pPr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Решение предусматривает: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работу в защищенном корпоративном контуре для сохранения чувствительной и коммерчески значимой информации</a:t>
            </a:r>
          </a:p>
        </p:txBody>
      </p:sp>
      <p:sp>
        <p:nvSpPr>
          <p:cNvPr id="13" name="Прямоугольник: скругленные углы 47">
            <a:extLst>
              <a:ext uri="{FF2B5EF4-FFF2-40B4-BE49-F238E27FC236}">
                <a16:creationId xmlns:a16="http://schemas.microsoft.com/office/drawing/2014/main" id="{3C5D595C-02D8-F7FB-92AD-8A4EB1AEDEED}"/>
              </a:ext>
            </a:extLst>
          </p:cNvPr>
          <p:cNvSpPr/>
          <p:nvPr/>
        </p:nvSpPr>
        <p:spPr>
          <a:xfrm>
            <a:off x="597770" y="4283470"/>
            <a:ext cx="4951999" cy="2059509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1400" b="1" dirty="0">
                <a:solidFill>
                  <a:schemeClr val="bg2"/>
                </a:solidFill>
                <a:latin typeface="Arial" panose="020B0604020202020204" pitchFamily="34" charset="0"/>
              </a:rPr>
              <a:t>Модульная архитектура</a:t>
            </a:r>
            <a:r>
              <a:rPr lang="en-US" sz="1400" b="1" dirty="0">
                <a:solidFill>
                  <a:schemeClr val="bg2"/>
                </a:solidFill>
                <a:latin typeface="Arial" panose="020B0604020202020204" pitchFamily="34" charset="0"/>
              </a:rPr>
              <a:t> </a:t>
            </a:r>
            <a:r>
              <a:rPr lang="ru-RU" sz="1400" b="1" dirty="0">
                <a:solidFill>
                  <a:schemeClr val="bg2"/>
                </a:solidFill>
                <a:latin typeface="Arial" panose="020B0604020202020204" pitchFamily="34" charset="0"/>
              </a:rPr>
              <a:t>на основе </a:t>
            </a:r>
            <a:r>
              <a:rPr lang="en-US" sz="1400" b="1" dirty="0">
                <a:solidFill>
                  <a:schemeClr val="bg2"/>
                </a:solidFill>
                <a:latin typeface="Arial" panose="020B0604020202020204" pitchFamily="34" charset="0"/>
              </a:rPr>
              <a:t>Docker</a:t>
            </a:r>
            <a:endParaRPr lang="ru-RU" sz="1400" b="1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Это обеспечивает: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масштабируемость решения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независимое развитие компонентов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возможность замены отдельных моделей или сервисов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упрощение сопровождения и обновлений.</a:t>
            </a:r>
          </a:p>
        </p:txBody>
      </p:sp>
      <p:sp>
        <p:nvSpPr>
          <p:cNvPr id="14" name="Прямоугольник: скругленные углы 47">
            <a:extLst>
              <a:ext uri="{FF2B5EF4-FFF2-40B4-BE49-F238E27FC236}">
                <a16:creationId xmlns:a16="http://schemas.microsoft.com/office/drawing/2014/main" id="{ABECAACE-91BC-01AF-E2A4-5A4446581C62}"/>
              </a:ext>
            </a:extLst>
          </p:cNvPr>
          <p:cNvSpPr/>
          <p:nvPr/>
        </p:nvSpPr>
        <p:spPr>
          <a:xfrm>
            <a:off x="5690820" y="4283470"/>
            <a:ext cx="5796329" cy="2059509"/>
          </a:xfrm>
          <a:prstGeom prst="roundRect">
            <a:avLst>
              <a:gd name="adj" fmla="val 5926"/>
            </a:avLst>
          </a:prstGeom>
          <a:solidFill>
            <a:srgbClr val="EBF2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144000" bIns="144000" rtlCol="0" anchor="t"/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ru-RU" sz="1400" b="1" dirty="0">
                <a:solidFill>
                  <a:schemeClr val="bg2"/>
                </a:solidFill>
                <a:latin typeface="Arial" panose="020B0604020202020204" pitchFamily="34" charset="0"/>
              </a:rPr>
              <a:t>Снижение зависимости от экспертизы аналитиков и разработчиков</a:t>
            </a:r>
          </a:p>
          <a:p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Система обеспечивает построение интерактивных графиков и аналитических отчетов без привлечения ресурсов разработчиков и аналитиков.</a:t>
            </a:r>
          </a:p>
          <a:p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Система позволяет аналитикам использовать чат с нейросетью </a:t>
            </a:r>
            <a:b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</a:b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по анализу базы данных, </a:t>
            </a:r>
            <a:r>
              <a:rPr lang="en-US" sz="1200" dirty="0">
                <a:solidFill>
                  <a:srgbClr val="353535"/>
                </a:solidFill>
                <a:latin typeface="Arial" panose="020B0604020202020204" pitchFamily="34" charset="0"/>
              </a:rPr>
              <a:t>SQL </a:t>
            </a:r>
            <a:r>
              <a:rPr lang="ru-RU" sz="1200" dirty="0">
                <a:solidFill>
                  <a:srgbClr val="353535"/>
                </a:solidFill>
                <a:latin typeface="Arial" panose="020B0604020202020204" pitchFamily="34" charset="0"/>
              </a:rPr>
              <a:t>и построению отчетов.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8A23C4D-A210-EC50-5FB2-87203BD3F4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8578" y="3331041"/>
            <a:ext cx="799844" cy="799844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43C2A21-D11C-1C04-5856-423C29989E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22981" y="3234345"/>
            <a:ext cx="799844" cy="79984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25F9DC2-97E0-BF61-F70C-87E25FAE1F9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0997" y="3299081"/>
            <a:ext cx="799844" cy="799844"/>
          </a:xfrm>
          <a:prstGeom prst="rect">
            <a:avLst/>
          </a:prstGeom>
        </p:spPr>
      </p:pic>
      <p:pic>
        <p:nvPicPr>
          <p:cNvPr id="21" name="Рисунок 20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3658E0C-2D31-0D47-6A21-9A89813E8C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925" y="5543135"/>
            <a:ext cx="799844" cy="799844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92B8DB6D-A115-D8BB-727E-616D27B42F7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90997" y="5403250"/>
            <a:ext cx="716950" cy="71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038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87634-540A-4665-855C-45C62D23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Рекомендуемые параметры инфраструктуры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D2FF4CDB-EC36-6E42-7F82-20000EFCB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44380"/>
              </p:ext>
            </p:extLst>
          </p:nvPr>
        </p:nvGraphicFramePr>
        <p:xfrm>
          <a:off x="433388" y="1072416"/>
          <a:ext cx="11325993" cy="4172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1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1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08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93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b="1" kern="12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Параметр</a:t>
                      </a:r>
                    </a:p>
                  </a:txBody>
                  <a:tcPr marL="0" marR="72000" marT="45726" marB="45726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ru-RU" sz="1200" dirty="0">
                          <a:solidFill>
                            <a:schemeClr val="bg2"/>
                          </a:solidFill>
                        </a:rPr>
                        <a:t>Основной продуктивный стенд</a:t>
                      </a:r>
                      <a:endParaRPr lang="ru-RU" sz="1200" b="1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72000" marT="45726" marB="45726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bg2"/>
                          </a:solidFill>
                        </a:rPr>
                        <a:t>Резервный стенд для доступности 99%</a:t>
                      </a:r>
                      <a:endParaRPr lang="ru-RU" sz="1200" b="1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72000" marT="45726" marB="45726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solidFill>
                            <a:schemeClr val="bg2"/>
                          </a:solidFill>
                        </a:rPr>
                        <a:t>Комментарий</a:t>
                      </a:r>
                      <a:endParaRPr lang="ru-RU" sz="1200" b="1" kern="120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72000" marT="45726" marB="45726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50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CPU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72000" marT="45726" marB="4572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16</a:t>
                      </a:r>
                      <a:r>
                        <a:rPr lang="en-US" sz="1200" dirty="0"/>
                        <a:t> CPU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A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50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RAM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72000" marT="45726" marB="4572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32 ГБ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50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US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GPU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72000" marT="45726" marB="4572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 GPU Nvidia H100 80 Gb</a:t>
                      </a: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ru-RU" sz="1200" dirty="0"/>
                        <a:t>GPU используется для LLM (работает на Единой платформе)</a:t>
                      </a:r>
                      <a:endParaRPr lang="ru-RU" sz="12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150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Диски</a:t>
                      </a:r>
                    </a:p>
                  </a:txBody>
                  <a:tcPr marL="0" marR="72000" marT="45726" marB="4572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200 Гб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150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Среда </a:t>
                      </a:r>
                      <a:b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</a:br>
                      <a:r>
                        <a:rPr lang="ru-RU" sz="1200" b="1" kern="12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размещения</a:t>
                      </a:r>
                    </a:p>
                  </a:txBody>
                  <a:tcPr marL="0" marR="72000" marT="45726" marB="4572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/>
                        <a:t>Kubernetes</a:t>
                      </a:r>
                      <a:r>
                        <a:rPr lang="ru-RU" sz="1200" dirty="0"/>
                        <a:t> (Т1-Облако)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ru-RU" sz="1200" dirty="0"/>
                        <a:t>Контейнерное размещение сервисов платформы и агента</a:t>
                      </a:r>
                      <a:endParaRPr lang="en" sz="12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494664"/>
                  </a:ext>
                </a:extLst>
              </a:tr>
              <a:tr h="5740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b="1" dirty="0"/>
                        <a:t>Доступность</a:t>
                      </a: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432347"/>
                  </a:ext>
                </a:extLst>
              </a:tr>
              <a:tr h="51150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ru-RU" sz="1200" dirty="0"/>
                        <a:t>Назначение</a:t>
                      </a:r>
                      <a:endParaRPr lang="ru-RU" sz="1200" b="1" kern="12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72000" marT="45726" marB="45726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200" dirty="0"/>
                        <a:t>Работа ИИ-Агента и сервисов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 dirty="0"/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Clr>
                          <a:schemeClr val="bg2"/>
                        </a:buClr>
                        <a:buFont typeface="Arial" panose="020B0604020202020204" pitchFamily="34" charset="0"/>
                        <a:buNone/>
                      </a:pPr>
                      <a:endParaRPr lang="en" sz="1200" b="0" kern="1200" dirty="0">
                        <a:solidFill>
                          <a:schemeClr val="bg1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0" marR="6858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16695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BAFD6A-0975-7B15-5592-D6DA484814A4}"/>
              </a:ext>
            </a:extLst>
          </p:cNvPr>
          <p:cNvSpPr txBox="1"/>
          <p:nvPr/>
        </p:nvSpPr>
        <p:spPr>
          <a:xfrm>
            <a:off x="432619" y="6434708"/>
            <a:ext cx="6600092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100" b="0" i="0" u="none" strike="noStrike" kern="1200" cap="none" spc="0" normalizeH="0" baseline="0" noProof="0" dirty="0">
              <a:ln>
                <a:noFill/>
              </a:ln>
              <a:solidFill>
                <a:srgbClr val="03182B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Скругленный прямоугольник 2">
            <a:extLst>
              <a:ext uri="{FF2B5EF4-FFF2-40B4-BE49-F238E27FC236}">
                <a16:creationId xmlns:a16="http://schemas.microsoft.com/office/drawing/2014/main" id="{13B0E6F7-8AFF-2D28-EC8A-738394845569}"/>
              </a:ext>
            </a:extLst>
          </p:cNvPr>
          <p:cNvSpPr/>
          <p:nvPr/>
        </p:nvSpPr>
        <p:spPr>
          <a:xfrm>
            <a:off x="1460336" y="5772595"/>
            <a:ext cx="8782703" cy="662113"/>
          </a:xfrm>
          <a:prstGeom prst="roundRect">
            <a:avLst>
              <a:gd name="adj" fmla="val 2053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0" rIns="0" bIns="0" rtlCol="0" anchor="ctr"/>
          <a:lstStyle/>
          <a:p>
            <a:pPr algn="ctr"/>
            <a:r>
              <a:rPr lang="ru-RU" sz="1200" dirty="0"/>
              <a:t>Для продуктивной промышленной эксплуатации рекомендуется один основной стенд и второй резервный.</a:t>
            </a:r>
            <a:endParaRPr lang="ru-RU" sz="1200" b="1" dirty="0">
              <a:ln/>
              <a:solidFill>
                <a:schemeClr val="bg1"/>
              </a:solidFill>
              <a:latin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95213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8A876A7-663D-0B47-4C75-9CB41AA9C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19" y="423291"/>
            <a:ext cx="9606530" cy="454292"/>
          </a:xfrm>
        </p:spPr>
        <p:txBody>
          <a:bodyPr/>
          <a:lstStyle/>
          <a:p>
            <a:r>
              <a:rPr lang="ru-RU" dirty="0"/>
              <a:t>Стек используемых технологий</a:t>
            </a:r>
          </a:p>
        </p:txBody>
      </p:sp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B69682F-9D49-462E-9E72-1C9B9E2BA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1083" y="3844470"/>
            <a:ext cx="2537011" cy="454292"/>
          </a:xfrm>
          <a:custGeom>
            <a:avLst/>
            <a:gdLst>
              <a:gd name="connsiteX0" fmla="*/ 0 w 1551869"/>
              <a:gd name="connsiteY0" fmla="*/ 0 h 277887"/>
              <a:gd name="connsiteX1" fmla="*/ 1551869 w 1551869"/>
              <a:gd name="connsiteY1" fmla="*/ 0 h 277887"/>
              <a:gd name="connsiteX2" fmla="*/ 1551869 w 1551869"/>
              <a:gd name="connsiteY2" fmla="*/ 277887 h 277887"/>
              <a:gd name="connsiteX3" fmla="*/ 0 w 1551869"/>
              <a:gd name="connsiteY3" fmla="*/ 277887 h 277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1869" h="277887">
                <a:moveTo>
                  <a:pt x="0" y="0"/>
                </a:moveTo>
                <a:lnTo>
                  <a:pt x="1551869" y="0"/>
                </a:lnTo>
                <a:lnTo>
                  <a:pt x="1551869" y="277887"/>
                </a:lnTo>
                <a:lnTo>
                  <a:pt x="0" y="277887"/>
                </a:lnTo>
                <a:close/>
              </a:path>
            </a:pathLst>
          </a:cu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8B420395-971E-4AC5-B34C-6569A117B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096" y="3233612"/>
            <a:ext cx="2684307" cy="1676008"/>
          </a:xfrm>
          <a:custGeom>
            <a:avLst/>
            <a:gdLst>
              <a:gd name="connsiteX0" fmla="*/ 0 w 1038783"/>
              <a:gd name="connsiteY0" fmla="*/ 0 h 648588"/>
              <a:gd name="connsiteX1" fmla="*/ 1038783 w 1038783"/>
              <a:gd name="connsiteY1" fmla="*/ 0 h 648588"/>
              <a:gd name="connsiteX2" fmla="*/ 1038783 w 1038783"/>
              <a:gd name="connsiteY2" fmla="*/ 648589 h 648588"/>
              <a:gd name="connsiteX3" fmla="*/ 0 w 1038783"/>
              <a:gd name="connsiteY3" fmla="*/ 648589 h 64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783" h="648588">
                <a:moveTo>
                  <a:pt x="0" y="0"/>
                </a:moveTo>
                <a:lnTo>
                  <a:pt x="1038783" y="0"/>
                </a:lnTo>
                <a:lnTo>
                  <a:pt x="1038783" y="648589"/>
                </a:lnTo>
                <a:lnTo>
                  <a:pt x="0" y="648589"/>
                </a:lnTo>
                <a:close/>
              </a:path>
            </a:pathLst>
          </a:cu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E75CDD59-B0CF-4796-A914-245447E211B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251" t="21250" r="21391" b="23235"/>
          <a:stretch/>
        </p:blipFill>
        <p:spPr>
          <a:xfrm>
            <a:off x="8297846" y="5314963"/>
            <a:ext cx="1579877" cy="830883"/>
          </a:xfrm>
          <a:custGeom>
            <a:avLst/>
            <a:gdLst>
              <a:gd name="connsiteX0" fmla="*/ 0 w 1669175"/>
              <a:gd name="connsiteY0" fmla="*/ 0 h 938610"/>
              <a:gd name="connsiteX1" fmla="*/ 1669175 w 1669175"/>
              <a:gd name="connsiteY1" fmla="*/ 0 h 938610"/>
              <a:gd name="connsiteX2" fmla="*/ 1669175 w 1669175"/>
              <a:gd name="connsiteY2" fmla="*/ 938610 h 938610"/>
              <a:gd name="connsiteX3" fmla="*/ 0 w 1669175"/>
              <a:gd name="connsiteY3" fmla="*/ 938610 h 93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9175" h="938610">
                <a:moveTo>
                  <a:pt x="0" y="0"/>
                </a:moveTo>
                <a:lnTo>
                  <a:pt x="1669175" y="0"/>
                </a:lnTo>
                <a:lnTo>
                  <a:pt x="1669175" y="938610"/>
                </a:lnTo>
                <a:lnTo>
                  <a:pt x="0" y="938610"/>
                </a:lnTo>
                <a:close/>
              </a:path>
            </a:pathLst>
          </a:custGeom>
        </p:spPr>
      </p:pic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13D90EBE-B5C1-48A9-B7FF-C571A052D1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7811" y="5522191"/>
            <a:ext cx="2215206" cy="486722"/>
          </a:xfrm>
          <a:prstGeom prst="rect">
            <a:avLst/>
          </a:prstGeom>
        </p:spPr>
      </p:pic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93B8C1E5-4E6F-456D-8217-B2C7013C21A8}"/>
              </a:ext>
            </a:extLst>
          </p:cNvPr>
          <p:cNvSpPr/>
          <p:nvPr/>
        </p:nvSpPr>
        <p:spPr>
          <a:xfrm>
            <a:off x="3342311" y="1494821"/>
            <a:ext cx="8068639" cy="1676009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3" name="Picture 4">
            <a:extLst>
              <a:ext uri="{FF2B5EF4-FFF2-40B4-BE49-F238E27FC236}">
                <a16:creationId xmlns:a16="http://schemas.microsoft.com/office/drawing/2014/main" id="{3E764A84-F9DF-4591-B58D-E2F5AFC75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9478" y="2200590"/>
            <a:ext cx="1882058" cy="55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JavaScript logo and symbol, meaning, history, PNG">
            <a:extLst>
              <a:ext uri="{FF2B5EF4-FFF2-40B4-BE49-F238E27FC236}">
                <a16:creationId xmlns:a16="http://schemas.microsoft.com/office/drawing/2014/main" id="{A3F5D5CC-834E-4D0D-A4BF-DC47A16F53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040" y="1779852"/>
            <a:ext cx="1704975" cy="106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atei:Plotly logo.png – Wikipedia">
            <a:extLst>
              <a:ext uri="{FF2B5EF4-FFF2-40B4-BE49-F238E27FC236}">
                <a16:creationId xmlns:a16="http://schemas.microsoft.com/office/drawing/2014/main" id="{B4F75798-5B24-4BB6-AB37-D450CC0F4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7784" y="1784260"/>
            <a:ext cx="1843088" cy="112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DEF33D43-DFDE-4BBC-9BAE-D7245E10AA11}"/>
              </a:ext>
            </a:extLst>
          </p:cNvPr>
          <p:cNvSpPr/>
          <p:nvPr/>
        </p:nvSpPr>
        <p:spPr>
          <a:xfrm>
            <a:off x="3342311" y="3346736"/>
            <a:ext cx="8068639" cy="149527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85311DB8-B5D2-4BB7-9A52-2C2A8F0FC105}"/>
              </a:ext>
            </a:extLst>
          </p:cNvPr>
          <p:cNvSpPr/>
          <p:nvPr/>
        </p:nvSpPr>
        <p:spPr>
          <a:xfrm>
            <a:off x="3342310" y="5017915"/>
            <a:ext cx="8068639" cy="1495274"/>
          </a:xfrm>
          <a:prstGeom prst="rect">
            <a:avLst/>
          </a:prstGeom>
          <a:noFill/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3F4DA-C150-4C15-8044-D8A07345886F}"/>
              </a:ext>
            </a:extLst>
          </p:cNvPr>
          <p:cNvSpPr txBox="1"/>
          <p:nvPr/>
        </p:nvSpPr>
        <p:spPr>
          <a:xfrm>
            <a:off x="439226" y="2159907"/>
            <a:ext cx="269144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Программирование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A97FD6-77F7-4710-A797-D8F8BCE4E381}"/>
              </a:ext>
            </a:extLst>
          </p:cNvPr>
          <p:cNvSpPr txBox="1"/>
          <p:nvPr/>
        </p:nvSpPr>
        <p:spPr>
          <a:xfrm>
            <a:off x="567412" y="3725041"/>
            <a:ext cx="2459135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Контейнеризация </a:t>
            </a:r>
            <a:b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и база данных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F7B521-F8DE-40F7-A63A-63B0A8AABD02}"/>
              </a:ext>
            </a:extLst>
          </p:cNvPr>
          <p:cNvSpPr txBox="1"/>
          <p:nvPr/>
        </p:nvSpPr>
        <p:spPr>
          <a:xfrm>
            <a:off x="1028203" y="5270249"/>
            <a:ext cx="151349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ru-RU" sz="2400" b="1" dirty="0">
                <a:latin typeface="Calibri" panose="020F0502020204030204" pitchFamily="34" charset="0"/>
                <a:cs typeface="Calibri" panose="020F0502020204030204" pitchFamily="34" charset="0"/>
              </a:rPr>
              <a:t>Работа </a:t>
            </a:r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  <a:endParaRPr lang="ru-RU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328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B1B139F-57A7-4778-ABF8-DEE21CFE2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Коммерческое предложение</a:t>
            </a:r>
          </a:p>
        </p:txBody>
      </p:sp>
    </p:spTree>
    <p:extLst>
      <p:ext uri="{BB962C8B-B14F-4D97-AF65-F5344CB8AC3E}">
        <p14:creationId xmlns:p14="http://schemas.microsoft.com/office/powerpoint/2010/main" val="2172203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6B11B-D1FC-CF21-491C-1EDEB9A2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Индикативная оценка проекта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8356760E-45FC-D9B2-4A22-DDB9E0099FD4}"/>
              </a:ext>
            </a:extLst>
          </p:cNvPr>
          <p:cNvSpPr/>
          <p:nvPr/>
        </p:nvSpPr>
        <p:spPr>
          <a:xfrm>
            <a:off x="352590" y="1416566"/>
            <a:ext cx="4369121" cy="2184560"/>
          </a:xfrm>
          <a:prstGeom prst="roundRect">
            <a:avLst>
              <a:gd name="adj" fmla="val 8641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08000" rIns="0" rtlCol="0" anchor="t"/>
          <a:lstStyle/>
          <a:p>
            <a:pPr>
              <a:spcAft>
                <a:spcPts val="600"/>
              </a:spcAft>
            </a:pPr>
            <a:r>
              <a:rPr lang="ru-RU" sz="3000" b="1" dirty="0">
                <a:solidFill>
                  <a:schemeClr val="tx1"/>
                </a:solidFill>
              </a:rPr>
              <a:t>2 200 000 ₽</a:t>
            </a:r>
            <a:r>
              <a:rPr lang="ru-RU" sz="3000" dirty="0">
                <a:solidFill>
                  <a:schemeClr val="tx1"/>
                </a:solidFill>
              </a:rPr>
              <a:t> (без НДС)</a:t>
            </a:r>
          </a:p>
          <a:p>
            <a:pPr>
              <a:buClr>
                <a:schemeClr val="bg2"/>
              </a:buClr>
            </a:pPr>
            <a:r>
              <a:rPr lang="ru-RU" sz="1050" dirty="0">
                <a:solidFill>
                  <a:schemeClr val="tx1"/>
                </a:solidFill>
              </a:rPr>
              <a:t>Общая стоимость работ по проекту без учета инфраструктуры.</a:t>
            </a:r>
            <a:br>
              <a:rPr lang="ru-RU" sz="1050" dirty="0">
                <a:solidFill>
                  <a:schemeClr val="tx1"/>
                </a:solidFill>
              </a:rPr>
            </a:br>
            <a:endParaRPr lang="ru-RU" sz="1050" dirty="0">
              <a:solidFill>
                <a:schemeClr val="tx1"/>
              </a:solidFill>
            </a:endParaRPr>
          </a:p>
          <a:p>
            <a:pPr>
              <a:buClr>
                <a:schemeClr val="bg2"/>
              </a:buClr>
            </a:pPr>
            <a:r>
              <a:rPr lang="ru-RU" sz="1050" dirty="0">
                <a:solidFill>
                  <a:schemeClr val="tx1"/>
                </a:solidFill>
              </a:rPr>
              <a:t>Оплата за работы производится в размере 100 % от стоимости проекта в течение 3 календарных дней с даты подписания Акта сдачи-приемки выполненных работ.</a:t>
            </a:r>
          </a:p>
          <a:p>
            <a:pPr>
              <a:spcAft>
                <a:spcPts val="600"/>
              </a:spcAft>
              <a:buClr>
                <a:srgbClr val="00ADEB"/>
              </a:buClr>
              <a:defRPr/>
            </a:pPr>
            <a:endParaRPr lang="ru-RU" sz="1050" dirty="0">
              <a:solidFill>
                <a:schemeClr val="tx1"/>
              </a:solidFill>
            </a:endParaRPr>
          </a:p>
          <a:p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B117BCD0-A54A-FA7C-E8C6-33B97E59B3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780434"/>
              </p:ext>
            </p:extLst>
          </p:nvPr>
        </p:nvGraphicFramePr>
        <p:xfrm>
          <a:off x="352590" y="5319692"/>
          <a:ext cx="3455114" cy="100228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5114">
                  <a:extLst>
                    <a:ext uri="{9D8B030D-6E8A-4147-A177-3AD203B41FA5}">
                      <a16:colId xmlns:a16="http://schemas.microsoft.com/office/drawing/2014/main" val="518486145"/>
                    </a:ext>
                  </a:extLst>
                </a:gridCol>
              </a:tblGrid>
              <a:tr h="318890">
                <a:tc>
                  <a:txBody>
                    <a:bodyPr/>
                    <a:lstStyle/>
                    <a:p>
                      <a:pPr algn="l"/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Проектный менеджер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6073"/>
                  </a:ext>
                </a:extLst>
              </a:tr>
              <a:tr h="221381">
                <a:tc>
                  <a:txBody>
                    <a:bodyPr/>
                    <a:lstStyle/>
                    <a:p>
                      <a:pPr algn="l"/>
                      <a:r>
                        <a:rPr lang="ru-RU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Разработчик</a:t>
                      </a:r>
                      <a:endParaRPr lang="ru-RU" sz="10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819225"/>
                  </a:ext>
                </a:extLst>
              </a:tr>
              <a:tr h="221381">
                <a:tc>
                  <a:txBody>
                    <a:bodyPr/>
                    <a:lstStyle/>
                    <a:p>
                      <a:pPr algn="l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DevOps</a:t>
                      </a:r>
                      <a:endParaRPr lang="ru-RU" sz="105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041494"/>
                  </a:ext>
                </a:extLst>
              </a:tr>
              <a:tr h="240631">
                <a:tc>
                  <a:txBody>
                    <a:bodyPr/>
                    <a:lstStyle/>
                    <a:p>
                      <a:pPr algn="l"/>
                      <a:r>
                        <a:rPr lang="ru-RU" sz="1050" dirty="0">
                          <a:solidFill>
                            <a:schemeClr val="tx1"/>
                          </a:solidFill>
                        </a:rPr>
                        <a:t>Тестировщик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146728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875E3D5-295E-59BC-ACA2-2D6935FB5F68}"/>
              </a:ext>
            </a:extLst>
          </p:cNvPr>
          <p:cNvSpPr txBox="1"/>
          <p:nvPr/>
        </p:nvSpPr>
        <p:spPr>
          <a:xfrm>
            <a:off x="4884270" y="1381407"/>
            <a:ext cx="230595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400" b="1" dirty="0">
                <a:solidFill>
                  <a:srgbClr val="03182B"/>
                </a:solidFill>
                <a:latin typeface="Arial"/>
              </a:rPr>
              <a:t>План реализации проекта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EBEB1D-7DEA-67E8-9A0F-E25AB74FDE03}"/>
              </a:ext>
            </a:extLst>
          </p:cNvPr>
          <p:cNvSpPr txBox="1"/>
          <p:nvPr/>
        </p:nvSpPr>
        <p:spPr>
          <a:xfrm>
            <a:off x="4990863" y="4901716"/>
            <a:ext cx="345511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ADE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400" b="1" dirty="0">
                <a:solidFill>
                  <a:srgbClr val="03182B"/>
                </a:solidFill>
                <a:latin typeface="Arial"/>
              </a:rPr>
              <a:t>Стоимость проекта и инфраструктуры</a:t>
            </a: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:a16="http://schemas.microsoft.com/office/drawing/2014/main" id="{21BE9766-7975-74B1-3C7F-668703FC2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619527"/>
              </p:ext>
            </p:extLst>
          </p:nvPr>
        </p:nvGraphicFramePr>
        <p:xfrm>
          <a:off x="4976383" y="5211710"/>
          <a:ext cx="6939187" cy="12452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18279">
                  <a:extLst>
                    <a:ext uri="{9D8B030D-6E8A-4147-A177-3AD203B41FA5}">
                      <a16:colId xmlns:a16="http://schemas.microsoft.com/office/drawing/2014/main" val="518486145"/>
                    </a:ext>
                  </a:extLst>
                </a:gridCol>
                <a:gridCol w="1920908">
                  <a:extLst>
                    <a:ext uri="{9D8B030D-6E8A-4147-A177-3AD203B41FA5}">
                      <a16:colId xmlns:a16="http://schemas.microsoft.com/office/drawing/2014/main" val="248260840"/>
                    </a:ext>
                  </a:extLst>
                </a:gridCol>
              </a:tblGrid>
              <a:tr h="249049">
                <a:tc>
                  <a:txBody>
                    <a:bodyPr/>
                    <a:lstStyle/>
                    <a:p>
                      <a:pPr algn="l"/>
                      <a:r>
                        <a:rPr lang="ru-RU" sz="1050" b="1" dirty="0">
                          <a:solidFill>
                            <a:schemeClr val="bg2"/>
                          </a:solidFill>
                        </a:rPr>
                        <a:t>Затраты</a:t>
                      </a:r>
                    </a:p>
                  </a:txBody>
                  <a:tcPr marL="0" marR="0" marT="0" marB="0" anchor="ctr"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b="1" dirty="0">
                          <a:solidFill>
                            <a:schemeClr val="bg2"/>
                          </a:solidFill>
                        </a:rPr>
                        <a:t>Стоимость, руб. без НДС</a:t>
                      </a:r>
                    </a:p>
                  </a:txBody>
                  <a:tcPr marL="0" marR="0" marT="0" marB="0" anchor="ctr"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1638238"/>
                  </a:ext>
                </a:extLst>
              </a:tr>
              <a:tr h="249049">
                <a:tc>
                  <a:txBody>
                    <a:bodyPr/>
                    <a:lstStyle/>
                    <a:p>
                      <a:pPr algn="l"/>
                      <a:r>
                        <a:rPr lang="ru-RU" sz="1050" b="1" dirty="0">
                          <a:solidFill>
                            <a:schemeClr val="accent4"/>
                          </a:solidFill>
                        </a:rPr>
                        <a:t>Работы по проекту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    2 200 000 руб.</a:t>
                      </a:r>
                    </a:p>
                  </a:txBody>
                  <a:tcPr marL="0" marR="0" marT="0" marB="0" anchor="ctr">
                    <a:lnT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26073"/>
                  </a:ext>
                </a:extLst>
              </a:tr>
              <a:tr h="249049">
                <a:tc>
                  <a:txBody>
                    <a:bodyPr/>
                    <a:lstStyle/>
                    <a:p>
                      <a:pPr algn="l"/>
                      <a:r>
                        <a:rPr lang="ru-RU" sz="1050" b="1" dirty="0">
                          <a:solidFill>
                            <a:schemeClr val="accent4"/>
                          </a:solidFill>
                        </a:rPr>
                        <a:t>Инфраструктуру предоставляет Заказчик</a:t>
                      </a:r>
                    </a:p>
                  </a:txBody>
                  <a:tcPr marL="0" marR="0" marT="0" marB="0"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156777"/>
                  </a:ext>
                </a:extLst>
              </a:tr>
              <a:tr h="249049">
                <a:tc>
                  <a:txBody>
                    <a:bodyPr/>
                    <a:lstStyle/>
                    <a:p>
                      <a:pPr algn="l"/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GPU-</a:t>
                      </a:r>
                      <a:r>
                        <a:rPr lang="ru-RU" sz="1050" b="1" dirty="0">
                          <a:solidFill>
                            <a:schemeClr val="accent4"/>
                          </a:solidFill>
                        </a:rPr>
                        <a:t>ресурсы используются от Единой платформы</a:t>
                      </a:r>
                    </a:p>
                  </a:txBody>
                  <a:tcPr marL="0" marR="0" marT="0" marB="0"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 sz="105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80021"/>
                  </a:ext>
                </a:extLst>
              </a:tr>
              <a:tr h="249049">
                <a:tc>
                  <a:txBody>
                    <a:bodyPr/>
                    <a:lstStyle/>
                    <a:p>
                      <a:pPr algn="l"/>
                      <a:r>
                        <a:rPr lang="ru-RU" sz="1050" b="1" dirty="0">
                          <a:solidFill>
                            <a:schemeClr val="accent4"/>
                          </a:solidFill>
                        </a:rPr>
                        <a:t>Поддержка ПО</a:t>
                      </a:r>
                    </a:p>
                  </a:txBody>
                  <a:tcPr marL="0" marR="0" marT="0" marB="0"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50" b="1" dirty="0">
                          <a:solidFill>
                            <a:schemeClr val="tx1"/>
                          </a:solidFill>
                        </a:rPr>
                        <a:t>440 000 руб.</a:t>
                      </a:r>
                    </a:p>
                  </a:txBody>
                  <a:tcPr marL="0" marR="0" marT="0" marB="0" anchor="ctr">
                    <a:lnT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0551588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E02FB463-06DC-D3CF-700D-67D32806A077}"/>
              </a:ext>
            </a:extLst>
          </p:cNvPr>
          <p:cNvSpPr txBox="1"/>
          <p:nvPr/>
        </p:nvSpPr>
        <p:spPr>
          <a:xfrm>
            <a:off x="374174" y="5009438"/>
            <a:ext cx="246715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Clr>
                <a:srgbClr val="00ADEB"/>
              </a:buClr>
              <a:defRPr/>
            </a:pPr>
            <a:r>
              <a:rPr lang="ru-RU" sz="1400" b="1" dirty="0">
                <a:solidFill>
                  <a:srgbClr val="03182B"/>
                </a:solidFill>
                <a:latin typeface="Arial"/>
              </a:rPr>
              <a:t>Состав проектной команды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2539B96-54B6-7D2E-49FF-7FAC1FE1787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5284" y="3205249"/>
            <a:ext cx="268655" cy="268655"/>
          </a:xfrm>
          <a:prstGeom prst="rect">
            <a:avLst/>
          </a:prstGeom>
        </p:spPr>
      </p:pic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BFFB569E-02C9-4F18-8030-DE3A8E7A8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90690"/>
              </p:ext>
            </p:extLst>
          </p:nvPr>
        </p:nvGraphicFramePr>
        <p:xfrm>
          <a:off x="4884269" y="1691401"/>
          <a:ext cx="6688605" cy="2390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74181">
                  <a:extLst>
                    <a:ext uri="{9D8B030D-6E8A-4147-A177-3AD203B41FA5}">
                      <a16:colId xmlns:a16="http://schemas.microsoft.com/office/drawing/2014/main" val="1309068845"/>
                    </a:ext>
                  </a:extLst>
                </a:gridCol>
                <a:gridCol w="590550">
                  <a:extLst>
                    <a:ext uri="{9D8B030D-6E8A-4147-A177-3AD203B41FA5}">
                      <a16:colId xmlns:a16="http://schemas.microsoft.com/office/drawing/2014/main" val="3977854201"/>
                    </a:ext>
                  </a:extLst>
                </a:gridCol>
                <a:gridCol w="523874">
                  <a:extLst>
                    <a:ext uri="{9D8B030D-6E8A-4147-A177-3AD203B41FA5}">
                      <a16:colId xmlns:a16="http://schemas.microsoft.com/office/drawing/2014/main" val="2143848257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ru-RU" sz="1200" b="1" i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Этапы проекта</a:t>
                      </a:r>
                      <a:endParaRPr lang="ru-RU" sz="800" i="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A9E6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7432090"/>
                  </a:ext>
                </a:extLst>
              </a:tr>
              <a:tr h="1638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7200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Tx/>
                        <a:buNone/>
                      </a:pPr>
                      <a:r>
                        <a:rPr kumimoji="0" lang="ru-RU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A9E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"/>
                        </a:rPr>
                        <a:t>3 кв.</a:t>
                      </a:r>
                      <a:endParaRPr lang="ru-RU" sz="1200" b="1" i="0" u="none" strike="noStrike" kern="1200" cap="none" spc="0" normalizeH="0" baseline="0" dirty="0">
                        <a:solidFill>
                          <a:srgbClr val="00A9E6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  <a:sym typeface="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01753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800" i="0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marL="36000" marR="36000" marT="72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Tx/>
                        <a:buNone/>
                      </a:pPr>
                      <a:r>
                        <a:rPr lang="ru-RU" sz="1000" b="0" i="0" u="none" strike="noStrike" kern="1200" cap="none" spc="0" normalizeH="0" baseline="0" dirty="0">
                          <a:solidFill>
                            <a:srgbClr val="00A9E6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"/>
                        </a:rPr>
                        <a:t>М1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ctr" defTabSz="914400" rtl="0" eaLnBrk="1" fontAlgn="auto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FontTx/>
                        <a:buNone/>
                      </a:pPr>
                      <a:r>
                        <a:rPr lang="ru-RU" sz="1000" b="0" i="0" u="none" strike="noStrike" kern="1200" cap="none" spc="0" normalizeH="0" baseline="0" dirty="0">
                          <a:solidFill>
                            <a:srgbClr val="00A9E6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  <a:sym typeface=""/>
                        </a:rPr>
                        <a:t>М2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67666"/>
                  </a:ext>
                </a:extLst>
              </a:tr>
              <a:tr h="37525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Уточнение условий и требований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F1FF"/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646464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A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663672"/>
                  </a:ext>
                </a:extLst>
              </a:tr>
              <a:tr h="356507"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+mn-lt"/>
                        </a:rPr>
                        <a:t>Доработка и тестирование системы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000" i="0" dirty="0">
                        <a:solidFill>
                          <a:srgbClr val="64646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F1FF"/>
                    </a:solidFill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000" i="0" dirty="0">
                        <a:solidFill>
                          <a:srgbClr val="64646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7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9224310"/>
                  </a:ext>
                </a:extLst>
              </a:tr>
              <a:tr h="319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Опытно-промышленная эксплуатация</a:t>
                      </a:r>
                      <a:endParaRPr lang="ru-RU" sz="1200" b="0" dirty="0"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000" i="0" dirty="0">
                        <a:solidFill>
                          <a:srgbClr val="64646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000" i="0" dirty="0">
                        <a:solidFill>
                          <a:srgbClr val="64646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1235923"/>
                  </a:ext>
                </a:extLst>
              </a:tr>
              <a:tr h="319335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Приемо-сдаточные испытания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000" i="0" dirty="0">
                        <a:solidFill>
                          <a:srgbClr val="64646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000" i="0" dirty="0">
                        <a:solidFill>
                          <a:srgbClr val="64646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91768"/>
                  </a:ext>
                </a:extLst>
              </a:tr>
              <a:tr h="319335">
                <a:tc>
                  <a:txBody>
                    <a:bodyPr/>
                    <a:lstStyle/>
                    <a:p>
                      <a:pPr algn="r"/>
                      <a:r>
                        <a:rPr lang="ru-RU" sz="1200" dirty="0">
                          <a:latin typeface="+mn-lt"/>
                        </a:rPr>
                        <a:t>Общая продолжительность: </a:t>
                      </a:r>
                      <a:r>
                        <a:rPr lang="ru-RU" sz="1200" b="1" dirty="0">
                          <a:latin typeface="+mn-lt"/>
                        </a:rPr>
                        <a:t>2 месяца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200" i="0" dirty="0">
                        <a:solidFill>
                          <a:srgbClr val="646464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72000" algn="l">
                        <a:lnSpc>
                          <a:spcPct val="100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endParaRPr lang="ru-RU" sz="1000" i="0" dirty="0">
                        <a:solidFill>
                          <a:srgbClr val="646464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C4C4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4222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811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8BB6E-B088-E98C-3518-AEF84E041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и допущения</a:t>
            </a:r>
          </a:p>
        </p:txBody>
      </p:sp>
      <p:sp>
        <p:nvSpPr>
          <p:cNvPr id="8" name="Скругленный прямоугольник 28">
            <a:extLst>
              <a:ext uri="{FF2B5EF4-FFF2-40B4-BE49-F238E27FC236}">
                <a16:creationId xmlns:a16="http://schemas.microsoft.com/office/drawing/2014/main" id="{57A0B29A-F6F2-BDB3-FB43-B28FB4DA0662}"/>
              </a:ext>
            </a:extLst>
          </p:cNvPr>
          <p:cNvSpPr/>
          <p:nvPr/>
        </p:nvSpPr>
        <p:spPr>
          <a:xfrm>
            <a:off x="1690837" y="1763366"/>
            <a:ext cx="2792568" cy="1954908"/>
          </a:xfrm>
          <a:prstGeom prst="roundRect">
            <a:avLst>
              <a:gd name="adj" fmla="val 8210"/>
            </a:avLst>
          </a:prstGeom>
          <a:solidFill>
            <a:srgbClr val="EBF2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44000" rtlCol="0" anchor="ctr" anchorCtr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ru-RU" sz="1400" dirty="0">
                <a:solidFill>
                  <a:srgbClr val="000000"/>
                </a:solidFill>
              </a:rPr>
              <a:t>ИИ-агент использует </a:t>
            </a:r>
            <a:r>
              <a:rPr lang="en-US" sz="1400" dirty="0">
                <a:solidFill>
                  <a:srgbClr val="000000"/>
                </a:solidFill>
              </a:rPr>
              <a:t>LLM</a:t>
            </a:r>
            <a:r>
              <a:rPr lang="ru-RU" sz="1400" dirty="0">
                <a:solidFill>
                  <a:srgbClr val="000000"/>
                </a:solidFill>
              </a:rPr>
              <a:t>, развернутую в рамках Единой платформы</a:t>
            </a:r>
          </a:p>
        </p:txBody>
      </p:sp>
      <p:sp>
        <p:nvSpPr>
          <p:cNvPr id="9" name="Скругленный прямоугольник 28">
            <a:extLst>
              <a:ext uri="{FF2B5EF4-FFF2-40B4-BE49-F238E27FC236}">
                <a16:creationId xmlns:a16="http://schemas.microsoft.com/office/drawing/2014/main" id="{A4E6D95C-234F-4874-617A-C944290CBE2D}"/>
              </a:ext>
            </a:extLst>
          </p:cNvPr>
          <p:cNvSpPr/>
          <p:nvPr/>
        </p:nvSpPr>
        <p:spPr>
          <a:xfrm>
            <a:off x="4699716" y="1782346"/>
            <a:ext cx="2792568" cy="1935928"/>
          </a:xfrm>
          <a:prstGeom prst="roundRect">
            <a:avLst>
              <a:gd name="adj" fmla="val 8210"/>
            </a:avLst>
          </a:prstGeom>
          <a:solidFill>
            <a:srgbClr val="EBF2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44000" rtlCol="0" anchor="ctr" anchorCtr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ru-RU" sz="1400" dirty="0">
                <a:solidFill>
                  <a:srgbClr val="000000"/>
                </a:solidFill>
              </a:rPr>
              <a:t>Инфраструктуру (виртуальную машину </a:t>
            </a:r>
            <a:r>
              <a:rPr lang="en-US" sz="1400" dirty="0">
                <a:solidFill>
                  <a:srgbClr val="000000"/>
                </a:solidFill>
              </a:rPr>
              <a:t>CPU, RAM, SSD) </a:t>
            </a:r>
            <a:r>
              <a:rPr lang="ru-RU" sz="1400" dirty="0">
                <a:solidFill>
                  <a:srgbClr val="000000"/>
                </a:solidFill>
              </a:rPr>
              <a:t>для работы агента предоставляет Заказчик</a:t>
            </a:r>
          </a:p>
        </p:txBody>
      </p:sp>
      <p:sp>
        <p:nvSpPr>
          <p:cNvPr id="10" name="Скругленный прямоугольник 28">
            <a:extLst>
              <a:ext uri="{FF2B5EF4-FFF2-40B4-BE49-F238E27FC236}">
                <a16:creationId xmlns:a16="http://schemas.microsoft.com/office/drawing/2014/main" id="{6ED5E0C4-17FF-4249-44F8-D78F42DC9CE7}"/>
              </a:ext>
            </a:extLst>
          </p:cNvPr>
          <p:cNvSpPr/>
          <p:nvPr/>
        </p:nvSpPr>
        <p:spPr>
          <a:xfrm>
            <a:off x="7708595" y="1791836"/>
            <a:ext cx="2792567" cy="1935927"/>
          </a:xfrm>
          <a:prstGeom prst="roundRect">
            <a:avLst>
              <a:gd name="adj" fmla="val 8210"/>
            </a:avLst>
          </a:prstGeom>
          <a:solidFill>
            <a:srgbClr val="EBF2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44000" rtlCol="0" anchor="ctr" anchorCtr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ru-RU" sz="1400" dirty="0">
                <a:solidFill>
                  <a:srgbClr val="000000"/>
                </a:solidFill>
              </a:rPr>
              <a:t>Заказчик обеспечивает сетевой </a:t>
            </a:r>
            <a:r>
              <a:rPr lang="en-US" sz="1400" dirty="0">
                <a:solidFill>
                  <a:srgbClr val="000000"/>
                </a:solidFill>
              </a:rPr>
              <a:t>web-</a:t>
            </a:r>
            <a:r>
              <a:rPr lang="ru-RU" sz="1400" dirty="0">
                <a:solidFill>
                  <a:srgbClr val="000000"/>
                </a:solidFill>
              </a:rPr>
              <a:t>доступ к агенту и доступ от агента к реплике базы данных </a:t>
            </a:r>
            <a:r>
              <a:rPr lang="en-US" sz="1400" dirty="0">
                <a:solidFill>
                  <a:srgbClr val="000000"/>
                </a:solidFill>
              </a:rPr>
              <a:t>Simple One.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11" name="Скругленный прямоугольник 28">
            <a:extLst>
              <a:ext uri="{FF2B5EF4-FFF2-40B4-BE49-F238E27FC236}">
                <a16:creationId xmlns:a16="http://schemas.microsoft.com/office/drawing/2014/main" id="{93639C7F-FC7E-057F-732F-8513E807A0DD}"/>
              </a:ext>
            </a:extLst>
          </p:cNvPr>
          <p:cNvSpPr/>
          <p:nvPr/>
        </p:nvSpPr>
        <p:spPr>
          <a:xfrm>
            <a:off x="6101436" y="3958877"/>
            <a:ext cx="2792567" cy="1954909"/>
          </a:xfrm>
          <a:prstGeom prst="roundRect">
            <a:avLst>
              <a:gd name="adj" fmla="val 8210"/>
            </a:avLst>
          </a:prstGeom>
          <a:solidFill>
            <a:srgbClr val="EBF2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44000" rtlCol="0" anchor="ctr" anchorCtr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ru-RU" sz="1400" dirty="0">
                <a:solidFill>
                  <a:srgbClr val="000000"/>
                </a:solidFill>
              </a:rPr>
              <a:t>Заказчик обеспечивает Исполнителя всей необходимой информацией о структуре базы данных </a:t>
            </a:r>
            <a:r>
              <a:rPr lang="en-US" sz="1400" dirty="0">
                <a:solidFill>
                  <a:srgbClr val="000000"/>
                </a:solidFill>
              </a:rPr>
              <a:t>S1</a:t>
            </a:r>
            <a:r>
              <a:rPr lang="ru-RU" sz="1400" dirty="0">
                <a:solidFill>
                  <a:srgbClr val="000000"/>
                </a:solidFill>
              </a:rPr>
              <a:t>, описанием базы данных (связь бизнес-терминов со структурой таблиц)</a:t>
            </a:r>
          </a:p>
        </p:txBody>
      </p:sp>
      <p:sp>
        <p:nvSpPr>
          <p:cNvPr id="12" name="Скругленный прямоугольник 28">
            <a:extLst>
              <a:ext uri="{FF2B5EF4-FFF2-40B4-BE49-F238E27FC236}">
                <a16:creationId xmlns:a16="http://schemas.microsoft.com/office/drawing/2014/main" id="{28ABEA3E-EEB6-28B7-A4A9-21F16D87E759}"/>
              </a:ext>
            </a:extLst>
          </p:cNvPr>
          <p:cNvSpPr/>
          <p:nvPr/>
        </p:nvSpPr>
        <p:spPr>
          <a:xfrm>
            <a:off x="3081684" y="3958877"/>
            <a:ext cx="2803441" cy="1954909"/>
          </a:xfrm>
          <a:prstGeom prst="roundRect">
            <a:avLst>
              <a:gd name="adj" fmla="val 8210"/>
            </a:avLst>
          </a:prstGeom>
          <a:solidFill>
            <a:srgbClr val="EBF2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0" tIns="144000" rtlCol="0" anchor="ctr" anchorCtr="0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ru-RU" sz="1400" dirty="0">
                <a:solidFill>
                  <a:srgbClr val="000000"/>
                </a:solidFill>
              </a:rPr>
              <a:t>Не предполагается дополнительных средств защиты информации (шифрование данных, защита периметра и т.п.), т.к. предполагается работа внутри защищенного контура</a:t>
            </a:r>
          </a:p>
        </p:txBody>
      </p:sp>
    </p:spTree>
    <p:extLst>
      <p:ext uri="{BB962C8B-B14F-4D97-AF65-F5344CB8AC3E}">
        <p14:creationId xmlns:p14="http://schemas.microsoft.com/office/powerpoint/2010/main" val="733631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042874"/>
      </p:ext>
    </p:extLst>
  </p:cSld>
  <p:clrMapOvr>
    <a:masterClrMapping/>
  </p:clrMapOvr>
</p:sld>
</file>

<file path=ppt/theme/theme1.xml><?xml version="1.0" encoding="utf-8"?>
<a:theme xmlns:a="http://schemas.openxmlformats.org/drawingml/2006/main" name="1_Основной шаблон Т1">
  <a:themeElements>
    <a:clrScheme name="Т1 Гайдлайн">
      <a:dk1>
        <a:srgbClr val="03182B"/>
      </a:dk1>
      <a:lt1>
        <a:srgbClr val="FFFFFF"/>
      </a:lt1>
      <a:dk2>
        <a:srgbClr val="00ADEB"/>
      </a:dk2>
      <a:lt2>
        <a:srgbClr val="00ADEB"/>
      </a:lt2>
      <a:accent1>
        <a:srgbClr val="017FAD"/>
      </a:accent1>
      <a:accent2>
        <a:srgbClr val="0059AA"/>
      </a:accent2>
      <a:accent3>
        <a:srgbClr val="C3C3C3"/>
      </a:accent3>
      <a:accent4>
        <a:srgbClr val="151515"/>
      </a:accent4>
      <a:accent5>
        <a:srgbClr val="ECF2F9"/>
      </a:accent5>
      <a:accent6>
        <a:srgbClr val="C7F1FF"/>
      </a:accent6>
      <a:hlink>
        <a:srgbClr val="00ADEB"/>
      </a:hlink>
      <a:folHlink>
        <a:srgbClr val="005AAA"/>
      </a:folHlink>
    </a:clrScheme>
    <a:fontScheme name="Другая 4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5875">
          <a:solidFill>
            <a:schemeClr val="bg2"/>
          </a:solidFill>
          <a:tailEnd type="triangl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15884</TotalTime>
  <Words>1118</Words>
  <Application>Microsoft Office PowerPoint</Application>
  <PresentationFormat>Широкоэкранный</PresentationFormat>
  <Paragraphs>159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ALS Hauss</vt:lpstr>
      <vt:lpstr>Arial</vt:lpstr>
      <vt:lpstr>Calibri</vt:lpstr>
      <vt:lpstr>Courier New</vt:lpstr>
      <vt:lpstr>Системный шрифт, обычный</vt:lpstr>
      <vt:lpstr>1_Основной шаблон Т1</vt:lpstr>
      <vt:lpstr>Система быстрой аналитики  для компании Сервионика  (MVP - Text2BI) </vt:lpstr>
      <vt:lpstr>Цели, задачи проекта, сценарии применения</vt:lpstr>
      <vt:lpstr>Исследование потребности</vt:lpstr>
      <vt:lpstr>Концептуальная архитектура ИС</vt:lpstr>
      <vt:lpstr>Краткое описание концепции решения</vt:lpstr>
      <vt:lpstr>Описание функционала MVP</vt:lpstr>
      <vt:lpstr>Преимущества решения и подхода к реализации</vt:lpstr>
      <vt:lpstr>Рекомендуемые параметры инфраструктуры</vt:lpstr>
      <vt:lpstr>Стек используемых технологий</vt:lpstr>
      <vt:lpstr>Коммерческое предложение</vt:lpstr>
      <vt:lpstr>Индикативная оценка проекта</vt:lpstr>
      <vt:lpstr>Ограничения и допущения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Таблица</dc:title>
  <dc:creator>Приходько Антон</dc:creator>
  <cp:lastModifiedBy>Задонский Алексей Юрьевич</cp:lastModifiedBy>
  <cp:revision>865</cp:revision>
  <dcterms:created xsi:type="dcterms:W3CDTF">2023-02-20T15:32:58Z</dcterms:created>
  <dcterms:modified xsi:type="dcterms:W3CDTF">2026-06-23T10:37:33Z</dcterms:modified>
</cp:coreProperties>
</file>